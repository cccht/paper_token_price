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54000"/>
            <a:ext cx="11760119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Token Service Cross-Period Pricing &amp; Demand Response Game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000" y="468000"/>
            <a:ext cx="3776039" cy="5238001"/>
          </a:xfrm>
          <a:prstGeom prst="roundRect">
            <a:avLst/>
          </a:prstGeom>
          <a:solidFill>
            <a:srgbClr val="E8F4F0"/>
          </a:solidFill>
          <a:ln w="12700">
            <a:solidFill>
              <a:srgbClr val="CC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08039" y="468000"/>
            <a:ext cx="3776039" cy="5238001"/>
          </a:xfrm>
          <a:prstGeom prst="roundRect">
            <a:avLst/>
          </a:prstGeom>
          <a:solidFill>
            <a:srgbClr val="FDF0E4"/>
          </a:solidFill>
          <a:ln w="12700">
            <a:solidFill>
              <a:srgbClr val="E8D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00079" y="468000"/>
            <a:ext cx="3776039" cy="5238001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0000" y="540000"/>
            <a:ext cx="3668039" cy="324000"/>
          </a:xfrm>
          <a:prstGeom prst="roundRect">
            <a:avLst/>
          </a:prstGeom>
          <a:solidFill>
            <a:srgbClr val="007C7C"/>
          </a:solidFill>
          <a:ln w="12700">
            <a:solidFill>
              <a:srgbClr val="00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 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2039" y="540000"/>
            <a:ext cx="3668039" cy="324000"/>
          </a:xfrm>
          <a:prstGeom prst="roundRect">
            <a:avLst/>
          </a:prstGeom>
          <a:solidFill>
            <a:srgbClr val="E07A2B"/>
          </a:solidFill>
          <a:ln w="12700">
            <a:solidFill>
              <a:srgbClr val="E0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Platform / Broker 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4079" y="540000"/>
            <a:ext cx="3668039" cy="324000"/>
          </a:xfrm>
          <a:prstGeom prst="roundRect">
            <a:avLst/>
          </a:prstGeom>
          <a:solidFill>
            <a:srgbClr val="2D8B4E"/>
          </a:solidFill>
          <a:ln w="12700">
            <a:solidFill>
              <a:srgbClr val="2D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Provider / Supply Side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00" y="972000"/>
            <a:ext cx="3632039" cy="1007999"/>
          </a:xfrm>
          <a:prstGeom prst="roundRect">
            <a:avLst/>
          </a:prstGeom>
          <a:solidFill>
            <a:srgbClr val="007C7C"/>
          </a:solidFill>
          <a:ln w="12700">
            <a:solidFill>
              <a:srgbClr val="00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Rigid Users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Demand: R_t(p_t) = R̄_t · σ(β(v_r − p_t))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DDF0E8"/>
                </a:solidFill>
                <a:latin typeface="Calibri"/>
              </a:defRPr>
            </a:pPr>
            <a:r>
              <a:t>Price-inelastic within willingness-to-pay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DDF0E8"/>
                </a:solidFill>
                <a:latin typeface="Calibri"/>
              </a:defRPr>
            </a:pPr>
            <a:r>
              <a:t>Reduces only when p_t → v_r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00" y="2069999"/>
            <a:ext cx="3632039" cy="1368000"/>
          </a:xfrm>
          <a:prstGeom prst="roundRect">
            <a:avLst/>
          </a:prstGeom>
          <a:solidFill>
            <a:srgbClr val="007C7C"/>
          </a:solidFill>
          <a:ln w="12700">
            <a:solidFill>
              <a:srgbClr val="00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Elastic Users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Logit discrete choice model: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1">
                <a:solidFill>
                  <a:srgbClr val="FFFFFF"/>
                </a:solidFill>
                <a:latin typeface="Calibri"/>
              </a:defRPr>
            </a:pPr>
            <a:r>
              <a:t>F_t(p) = F̄ · g · m · s_t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DDF0E8"/>
                </a:solidFill>
                <a:latin typeface="Calibri"/>
              </a:defRPr>
            </a:pPr>
            <a:r>
              <a:t>s_t = exp(z_t) / Σ exp(z_τ)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DDF0E8"/>
                </a:solidFill>
                <a:latin typeface="Calibri"/>
              </a:defRPr>
            </a:pPr>
            <a:r>
              <a:t>z_t = −α(p̃_t − p̄) + ln(a_t + ε)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DDF0E8"/>
                </a:solidFill>
                <a:latin typeface="Calibri"/>
              </a:defRPr>
            </a:pPr>
            <a:r>
              <a:t>p̃_t = p_t + c_s(1 − a_t)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DDF0E8"/>
                </a:solidFill>
                <a:latin typeface="Calibri"/>
              </a:defRPr>
            </a:pPr>
            <a:r>
              <a:t>Time preference a_t  ·  Migration cost c_s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DDF0E8"/>
                </a:solidFill>
                <a:latin typeface="Calibri"/>
              </a:defRPr>
            </a:pPr>
            <a:r>
              <a:t>QoS feedback variant: z_t^feedback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00" y="3527999"/>
            <a:ext cx="3632039" cy="360000"/>
          </a:xfrm>
          <a:prstGeom prst="roundRect">
            <a:avLst/>
          </a:prstGeom>
          <a:solidFill>
            <a:srgbClr val="005F5F"/>
          </a:solidFill>
          <a:ln w="12700">
            <a:solidFill>
              <a:srgbClr val="00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Aggregate Demand:  D_t = R_t + F_t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0039" y="972000"/>
            <a:ext cx="3632039" cy="648000"/>
          </a:xfrm>
          <a:prstGeom prst="roundRect">
            <a:avLst/>
          </a:prstGeom>
          <a:solidFill>
            <a:srgbClr val="E07A2B"/>
          </a:solidFill>
          <a:ln w="12700">
            <a:solidFill>
              <a:srgbClr val="E0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Price Vector Publication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 = (p₁, …, p_T)  ∈ [p̲, p̄]^T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E8D0"/>
                </a:solidFill>
                <a:latin typeface="Calibri"/>
              </a:defRPr>
            </a:pPr>
            <a:r>
              <a:t>Fixed Average Price:  Σp_t / T = p̄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0039" y="1692000"/>
            <a:ext cx="3632039" cy="360000"/>
          </a:xfrm>
          <a:prstGeom prst="roundRect">
            <a:avLst/>
          </a:prstGeom>
          <a:solidFill>
            <a:srgbClr val="C05A0A"/>
          </a:solidFill>
          <a:ln w="12700">
            <a:solidFill>
              <a:srgbClr val="C0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Stackelberg Leader — First Mover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0039" y="2124000"/>
            <a:ext cx="3632039" cy="1080000"/>
          </a:xfrm>
          <a:prstGeom prst="roundRect">
            <a:avLst/>
          </a:prstGeom>
          <a:solidFill>
            <a:srgbClr val="E07A2B"/>
          </a:solidFill>
          <a:ln w="12700">
            <a:solidFill>
              <a:srgbClr val="E0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Profit Maximization (constrained)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Π(p) = h Σ p_t D_t q(u_t)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E8D0"/>
                </a:solidFill>
                <a:latin typeface="Calibri"/>
              </a:defRPr>
            </a:pPr>
            <a:r>
              <a:t>      − h Σ w D_t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E8D0"/>
                </a:solidFill>
                <a:latin typeface="Calibri"/>
              </a:defRPr>
            </a:pPr>
            <a:r>
              <a:t>      − h Σ c_r(R̄_t − R_t)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E8D0"/>
                </a:solidFill>
                <a:latin typeface="Calibri"/>
              </a:defRPr>
            </a:pPr>
            <a:r>
              <a:t>      − h Σ c_q[1−q(u_t)] R_t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Constraints: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E8D0"/>
                </a:solidFill>
                <a:latin typeface="Calibri"/>
              </a:defRPr>
            </a:pPr>
            <a:r>
              <a:t>   Bounded mean projection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E8D0"/>
                </a:solidFill>
                <a:latin typeface="Calibri"/>
              </a:defRPr>
            </a:pPr>
            <a:r>
              <a:t>   Optional bill protection P_B(ρ)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0039" y="3276000"/>
            <a:ext cx="3632039" cy="684000"/>
          </a:xfrm>
          <a:prstGeom prst="roundRect">
            <a:avLst/>
          </a:prstGeom>
          <a:solidFill>
            <a:srgbClr val="A04A00"/>
          </a:solidFill>
          <a:ln w="12700">
            <a:solidFill>
              <a:srgbClr val="A0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Pricing Strategies Compared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1. Uniform pricing: p_t ≡ p̄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2. Myopic dynamic: κ = 0 (search)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3. QoS-aware dynamic: true 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2079" y="972000"/>
            <a:ext cx="3632039" cy="720000"/>
          </a:xfrm>
          <a:prstGeom prst="roundRect">
            <a:avLst/>
          </a:prstGeom>
          <a:solidFill>
            <a:srgbClr val="2D8B4E"/>
          </a:solidFill>
          <a:ln w="12700">
            <a:solidFill>
              <a:srgbClr val="2D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GPU Inference Cluster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Fixed capacity: 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DDF5DD"/>
                </a:solidFill>
                <a:latin typeface="Calibri"/>
              </a:defRPr>
            </a:pPr>
            <a:r>
              <a:t>Backends: vLLM 0.22.0 / Ollama 0.24.0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DDF5DD"/>
                </a:solidFill>
                <a:latin typeface="Calibri"/>
              </a:defRPr>
            </a:pPr>
            <a:r>
              <a:t>RTX 4090 · Qwen2.5-0.5B/3B-Instruct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2079" y="1764000"/>
            <a:ext cx="3632039" cy="360000"/>
          </a:xfrm>
          <a:prstGeom prst="roundRect">
            <a:avLst/>
          </a:prstGeom>
          <a:solidFill>
            <a:srgbClr val="1A6E35"/>
          </a:solidFill>
          <a:ln w="12700">
            <a:solidFill>
              <a:srgbClr val="1A6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Utilization:  u_t = D_t /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2079" y="2196000"/>
            <a:ext cx="3632039" cy="900000"/>
          </a:xfrm>
          <a:prstGeom prst="roundRect">
            <a:avLst/>
          </a:prstGeom>
          <a:solidFill>
            <a:srgbClr val="2D8B4E"/>
          </a:solidFill>
          <a:ln w="12700">
            <a:solidFill>
              <a:srgbClr val="2D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QoS Degradation Proxy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q(u_t) = 1          if u_t ≤ ū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q(u_t) = exp[−κ(u_t−ū)²]  if u_t &gt; ū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DDF5DD"/>
                </a:solidFill>
                <a:latin typeface="Calibri"/>
              </a:defRPr>
            </a:pPr>
            <a:r>
              <a:t>Continuous; models effective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DDF5DD"/>
                </a:solidFill>
                <a:latin typeface="Calibri"/>
              </a:defRPr>
            </a:pPr>
            <a:r>
              <a:t>completion rate under congestion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2079" y="3168000"/>
            <a:ext cx="3632039" cy="900000"/>
          </a:xfrm>
          <a:prstGeom prst="roundRect">
            <a:avLst/>
          </a:prstGeom>
          <a:solidFill>
            <a:srgbClr val="1A5E2D"/>
          </a:solidFill>
          <a:ln w="12700">
            <a:solidFill>
              <a:srgbClr val="1A5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Empirical Validation (vLLM/Ollama)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Metrics: TTFT, TPOT, throughput,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  SLA compliance (TTFT &lt; 0.5s)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DDF5DD"/>
                </a:solidFill>
                <a:latin typeface="Calibri"/>
              </a:defRPr>
            </a:pPr>
            <a:r>
              <a:t>Heuristic QoS mapping: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DDF5DD"/>
                </a:solidFill>
                <a:latin typeface="Calibri"/>
              </a:defRPr>
            </a:pPr>
            <a:r>
              <a:t>  SLA rate → normalized capacity → 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10039.6666666665" y="1872000"/>
            <a:ext cx="179999.99999999953" cy="0"/>
          </a:xfrm>
          <a:prstGeom prst="line">
            <a:avLst/>
          </a:prstGeom>
          <a:ln w="25400">
            <a:solidFill>
              <a:srgbClr val="E07A2B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72039" y="1764000"/>
            <a:ext cx="9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E07A2B"/>
                </a:solidFill>
                <a:latin typeface="Calibri"/>
              </a:defRPr>
            </a:pPr>
            <a:r>
              <a:t>Price Signal p_t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10039.6666666665" y="3707999"/>
            <a:ext cx="179999.99999999953" cy="0"/>
          </a:xfrm>
          <a:prstGeom prst="line">
            <a:avLst/>
          </a:prstGeom>
          <a:ln w="25400">
            <a:solidFill>
              <a:srgbClr val="007C7C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64039" y="3761999"/>
            <a:ext cx="7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007C7C"/>
                </a:solidFill>
                <a:latin typeface="Calibri"/>
              </a:defRPr>
            </a:pPr>
            <a:r>
              <a:t>Demand D_t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84079.333333332" y="1332000"/>
            <a:ext cx="216000.00000000093" cy="0"/>
          </a:xfrm>
          <a:prstGeom prst="line">
            <a:avLst/>
          </a:prstGeom>
          <a:ln w="25400">
            <a:solidFill>
              <a:srgbClr val="E07A2B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20079" y="1134000"/>
            <a:ext cx="7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E07A2B"/>
                </a:solidFill>
                <a:latin typeface="Calibri"/>
              </a:defRPr>
            </a:pPr>
            <a:r>
              <a:t>Load D_t / Scheduling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84079.333333332" y="2340000"/>
            <a:ext cx="198000.00000000093" cy="0"/>
          </a:xfrm>
          <a:prstGeom prst="line">
            <a:avLst/>
          </a:prstGeom>
          <a:ln w="25400">
            <a:solidFill>
              <a:srgbClr val="2D8B4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55079" y="2232000"/>
            <a:ext cx="9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D8B4E"/>
                </a:solidFill>
                <a:latin typeface="Calibri"/>
              </a:defRPr>
            </a:pPr>
            <a:r>
              <a:t>QoS q(u_t) / u_t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028039.6666666665" y="1764000"/>
            <a:ext cx="4136039.6666666665" cy="2123999"/>
          </a:xfrm>
          <a:prstGeom prst="line">
            <a:avLst/>
          </a:prstGeom>
          <a:ln w="15240">
            <a:solidFill>
              <a:srgbClr val="666666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168059" y="2717999"/>
            <a:ext cx="9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Congestion Externality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6000" y="5814001"/>
            <a:ext cx="11760119" cy="971999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2E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000" y="5850001"/>
            <a:ext cx="64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Algorithm &amp; Game-Theoretic Foundation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4000" y="6102001"/>
            <a:ext cx="5610059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1B3A5C"/>
                </a:solidFill>
                <a:latin typeface="Calibri"/>
              </a:defRPr>
            </a:pPr>
            <a:r>
              <a:t>Game Structure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333333"/>
                </a:solidFill>
                <a:latin typeface="Calibri"/>
              </a:defRPr>
            </a:pPr>
            <a:r>
              <a:t>Stackelberg Leader–Follower: platform first publishes p,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333333"/>
                </a:solidFill>
                <a:latin typeface="Calibri"/>
              </a:defRPr>
            </a:pPr>
            <a:r>
              <a:t>users respond via aggregate logit choice (R_t, F_t)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333333"/>
                </a:solidFill>
                <a:latin typeface="Calibri"/>
              </a:defRPr>
            </a:pPr>
            <a:r>
              <a:t>Congestion externality: overloaded GPU → QoS ↓ → effective service ↓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333333"/>
                </a:solidFill>
                <a:latin typeface="Calibri"/>
              </a:defRPr>
            </a:pPr>
            <a:r>
              <a:t>Welfare decomposition: profit + rigid surplus + flex surplus − carbon cost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8059" y="6102001"/>
            <a:ext cx="5610059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1B3A5C"/>
                </a:solidFill>
                <a:latin typeface="Calibri"/>
              </a:defRPr>
            </a:pPr>
            <a:r>
              <a:t>Numerical Optimization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333333"/>
                </a:solidFill>
                <a:latin typeface="Calibri"/>
              </a:defRPr>
            </a:pPr>
            <a:r>
              <a:t>Multi-start SLSQP with equality, bound, and bill-protection constraints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333333"/>
                </a:solidFill>
                <a:latin typeface="Calibri"/>
              </a:defRPr>
            </a:pPr>
            <a:r>
              <a:t>Bounded mean projection: bisection on λ via KKT optimality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333333"/>
                </a:solidFill>
                <a:latin typeface="Calibri"/>
              </a:defRPr>
            </a:pPr>
            <a:r>
              <a:t>Candidates ranked by profit; solver convergence + constraint residual tracked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333333"/>
                </a:solidFill>
                <a:latin typeface="Calibri"/>
              </a:defRPr>
            </a:pPr>
            <a:r>
              <a:t>Extensibility verified: T = 8 to 64, 5–40 starts, residual &lt; 10⁻¹²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6000" y="6714000"/>
            <a:ext cx="11760119" cy="16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1B3A5C"/>
                </a:solidFill>
                <a:latin typeface="Calibri"/>
              </a:defRPr>
            </a:pPr>
            <a:r>
              <a:t>▸ QoS-aware pricing outperforms myopic by up to 12.53%  ·  QoS-min improves from 0.6632 (uniform) to 0.9918 (QoS-aware)  ·  Average-price constraint isolates scheduling gains from overall price hikes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