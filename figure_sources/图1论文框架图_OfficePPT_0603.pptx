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723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1DC154-F381-8267-1F8E-CAE6E14AC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B6A8E2D-3C3A-4E29-2058-7896E1F50B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659133-F609-3952-9007-65395F099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82A5E-CDCA-4D0A-A249-056812B5419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9BB653-5065-3461-C905-11B4B8589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5B0CC0-5D8E-EA00-A53C-3E747FEF8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D8189-A83B-419E-8CEB-25053FC30D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1600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859B22-5835-1A5C-83A4-BE8627F8A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88FEC2-0980-9F47-CD84-83325A944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915164-A17C-5E38-725D-34A8AE0FE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82A5E-CDCA-4D0A-A249-056812B5419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0678D9-E12E-FFB6-DD6F-C127D8D6D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5AF969-5814-774A-AA35-7655CC537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D8189-A83B-419E-8CEB-25053FC30D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8833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B0A397-226A-236F-5F51-04FCA95B2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3159C0-865B-5F38-4AEB-D121762FB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BC8969-1C35-BD94-621D-E00BCED83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82A5E-CDCA-4D0A-A249-056812B5419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C1D34E-5249-4F3D-6C68-F0C4A670E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5597C3-613F-0515-531E-787E2D7B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D8189-A83B-419E-8CEB-25053FC30D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063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B6B31D-1957-F62D-39D6-2954E34B6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9F82B4-6E87-3C4C-CF28-4CBC7072D1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64BB6A-43BB-4059-0251-C24B4705D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E5919A5-5DAF-FD10-3726-2450857C4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82A5E-CDCA-4D0A-A249-056812B5419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1CF2DEF-9364-CEE7-122E-B420795F9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E909A3-FFF3-7D52-EC01-F62961A1A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D8189-A83B-419E-8CEB-25053FC30D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9380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58959B-0283-137A-CCC4-F606A9F5D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74D92E-103B-C02E-8EEE-A50479996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0FB30F3-7377-CF14-359D-5BA79621C9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5E79BB9-F8EE-C81B-77FF-7F36E2DCDE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2AB2970-5ACF-E28A-3BF7-CAD0795DB8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77C288E-C4B7-5385-12E9-890B9EC38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82A5E-CDCA-4D0A-A249-056812B5419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4B26C49-B791-E3A8-4191-0E34F2991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E8FECE1-0018-7F09-B1EE-E50A07CA1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D8189-A83B-419E-8CEB-25053FC30D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218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8DC4D0-CE55-E902-17D1-903337C2C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30DD1B-586F-32D6-B7A5-E38D93539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82A5E-CDCA-4D0A-A249-056812B5419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B804FA-BC1E-97CA-B357-D0912A48E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94349D2-E5A1-601E-07DE-272FC8368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D8189-A83B-419E-8CEB-25053FC30D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6271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2D1F7B1-B87F-84AF-27C3-A7AC81AC5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82A5E-CDCA-4D0A-A249-056812B5419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2499B55-8633-A483-DAAB-E53F5C976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A7B7B0-6A4B-7E17-D3C2-E685664DA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D8189-A83B-419E-8CEB-25053FC30D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8698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FDB942-F4C5-C54F-A036-317641E18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E29037-30C4-6135-C6C1-58A1E5732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B4DA0CB-56C1-8C0B-A994-FCE481B9D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AA624A-D511-0261-2FF8-464FD32CC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82A5E-CDCA-4D0A-A249-056812B5419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2E47A8-1C10-0D26-CFFD-47A3AEA1A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47B058-3819-A134-A4D4-2FFE2A933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D8189-A83B-419E-8CEB-25053FC30D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0073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B282C0-18BD-7AA9-AB74-94D69DEAD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FE9CB3A-B112-21F5-2EE2-7FF8FD783C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1DBAFA-E5D6-11D6-9D37-EE3120C630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2760DF-5CC0-AC52-7B2C-5D1ED5731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82A5E-CDCA-4D0A-A249-056812B5419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1DA580-C82B-9673-7CFD-0062C68B1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F85F06-61F5-EA48-803C-D9C5398DF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D8189-A83B-419E-8CEB-25053FC30D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5684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66CCA4-A578-F991-B7A9-69527D1DD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90423A7-2138-4D21-758B-59221619AC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21EDAE-905B-CABC-FCD5-867ED5D8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82A5E-CDCA-4D0A-A249-056812B5419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3CC923-4B9E-75A0-7912-63394D6AF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B14EE7-483D-9A52-8942-581133B31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D8189-A83B-419E-8CEB-25053FC30D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455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81EA72F-92E2-ED08-E331-194A8CDDDB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522253-E2B0-0C05-E8CC-640BA416B0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0C480F-F179-02F6-4055-40092E18C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82A5E-CDCA-4D0A-A249-056812B5419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3F696B-8C91-E54F-F54E-13A07E384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F5B443-C814-19E3-CCDF-6BA267A0E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D8189-A83B-419E-8CEB-25053FC30D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024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22E5C4E-9F23-1CB6-D5A0-BC840B207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72F712-880E-9FEF-8D84-6E37C00D3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BD04F9-B285-E517-7012-3CE6E42B49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982A5E-CDCA-4D0A-A249-056812B5419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49A6F7-0336-3C0E-6468-DC3C767353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E0DC7C-DB20-D538-D54E-2680421232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BD8189-A83B-419E-8CEB-25053FC30D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5441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7E27E030-373A-EE3D-2BBD-FF9F32E45150}"/>
              </a:ext>
            </a:extLst>
          </p:cNvPr>
          <p:cNvCxnSpPr/>
          <p:nvPr/>
        </p:nvCxnSpPr>
        <p:spPr>
          <a:xfrm flipH="1">
            <a:off x="7747000" y="3810000"/>
            <a:ext cx="825500" cy="1930400"/>
          </a:xfrm>
          <a:prstGeom prst="straightConnector1">
            <a:avLst/>
          </a:prstGeom>
          <a:ln w="17780">
            <a:solidFill>
              <a:srgbClr val="F45B18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334688E2-3788-2888-F254-21E878858566}"/>
              </a:ext>
            </a:extLst>
          </p:cNvPr>
          <p:cNvCxnSpPr/>
          <p:nvPr/>
        </p:nvCxnSpPr>
        <p:spPr>
          <a:xfrm>
            <a:off x="2362200" y="3810000"/>
            <a:ext cx="2082800" cy="1930400"/>
          </a:xfrm>
          <a:prstGeom prst="straightConnector1">
            <a:avLst/>
          </a:prstGeom>
          <a:ln w="17780">
            <a:solidFill>
              <a:srgbClr val="F45B18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97563215-4BFA-A3FD-265F-F1D9C6D1ECFA}"/>
              </a:ext>
            </a:extLst>
          </p:cNvPr>
          <p:cNvSpPr/>
          <p:nvPr/>
        </p:nvSpPr>
        <p:spPr>
          <a:xfrm>
            <a:off x="4787900" y="2057400"/>
            <a:ext cx="2222500" cy="723900"/>
          </a:xfrm>
          <a:prstGeom prst="roundRect">
            <a:avLst/>
          </a:prstGeom>
          <a:solidFill>
            <a:srgbClr val="EFF8FF"/>
          </a:solidFill>
          <a:ln w="27940">
            <a:solidFill>
              <a:srgbClr val="005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A290D20-02E3-BDE9-F8DB-26190475A34A}"/>
              </a:ext>
            </a:extLst>
          </p:cNvPr>
          <p:cNvSpPr txBox="1"/>
          <p:nvPr/>
        </p:nvSpPr>
        <p:spPr>
          <a:xfrm>
            <a:off x="254000" y="76200"/>
            <a:ext cx="11684000" cy="507831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t">
            <a:spAutoFit/>
          </a:bodyPr>
          <a:lstStyle/>
          <a:p>
            <a:pPr algn="ctr"/>
            <a:r>
              <a:rPr lang="zh-CN" altLang="en-US" sz="2800" b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固定平均标价约束下 </a:t>
            </a:r>
            <a:r>
              <a:rPr lang="en-US" altLang="zh-CN" sz="2800" b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Token </a:t>
            </a:r>
            <a:r>
              <a:rPr lang="zh-CN" altLang="en-US" sz="2800" b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服务跨时段定价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C3B33F4-F42D-395D-00DE-519CD78AA2BA}"/>
              </a:ext>
            </a:extLst>
          </p:cNvPr>
          <p:cNvSpPr txBox="1"/>
          <p:nvPr/>
        </p:nvSpPr>
        <p:spPr>
          <a:xfrm>
            <a:off x="254000" y="533400"/>
            <a:ext cx="11684000" cy="307777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t">
            <a:spAutoFit/>
          </a:bodyPr>
          <a:lstStyle/>
          <a:p>
            <a:pPr algn="ctr"/>
            <a:r>
              <a:rPr lang="zh-CN" altLang="en-US" sz="15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方法框架、仿真求解与单 </a:t>
            </a: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GPU </a:t>
            </a:r>
            <a:r>
              <a:rPr lang="zh-CN" altLang="en-US" sz="15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拥挤验证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4B7805B-5D18-4494-8A5D-D07F18E7DE4C}"/>
              </a:ext>
            </a:extLst>
          </p:cNvPr>
          <p:cNvSpPr/>
          <p:nvPr/>
        </p:nvSpPr>
        <p:spPr>
          <a:xfrm>
            <a:off x="127000" y="990600"/>
            <a:ext cx="3492500" cy="4699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45B1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49E75FF-2B90-E092-9D52-12BDB9F2D1AF}"/>
              </a:ext>
            </a:extLst>
          </p:cNvPr>
          <p:cNvSpPr/>
          <p:nvPr/>
        </p:nvSpPr>
        <p:spPr>
          <a:xfrm>
            <a:off x="3810000" y="990600"/>
            <a:ext cx="4572000" cy="4699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5CDC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DF6FF0F-94C0-99CE-4FBF-4897B40AC097}"/>
              </a:ext>
            </a:extLst>
          </p:cNvPr>
          <p:cNvSpPr/>
          <p:nvPr/>
        </p:nvSpPr>
        <p:spPr>
          <a:xfrm>
            <a:off x="8572500" y="990600"/>
            <a:ext cx="3492500" cy="4699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73AB7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582D804-5A07-BA99-8E6F-E4EB78852B70}"/>
              </a:ext>
            </a:extLst>
          </p:cNvPr>
          <p:cNvSpPr/>
          <p:nvPr/>
        </p:nvSpPr>
        <p:spPr>
          <a:xfrm>
            <a:off x="228600" y="1092200"/>
            <a:ext cx="3289300" cy="355600"/>
          </a:xfrm>
          <a:prstGeom prst="roundRect">
            <a:avLst/>
          </a:prstGeom>
          <a:solidFill>
            <a:srgbClr val="FFFAEF"/>
          </a:solidFill>
          <a:ln w="12700">
            <a:solidFill>
              <a:srgbClr val="F45B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t"/>
          <a:lstStyle/>
          <a:p>
            <a:pPr algn="ctr"/>
            <a:r>
              <a:rPr lang="zh-CN" altLang="en-US" sz="1600" b="1">
                <a:solidFill>
                  <a:srgbClr val="F45B18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方法动机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A791602-95BC-415F-97AD-C113A6FA7BAF}"/>
              </a:ext>
            </a:extLst>
          </p:cNvPr>
          <p:cNvSpPr/>
          <p:nvPr/>
        </p:nvSpPr>
        <p:spPr>
          <a:xfrm>
            <a:off x="3911600" y="1092200"/>
            <a:ext cx="4368800" cy="3556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005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t"/>
          <a:lstStyle/>
          <a:p>
            <a:pPr algn="ctr"/>
            <a:r>
              <a:rPr lang="zh-CN" altLang="en-US" sz="1600" b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理论模型与求解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C9C4731-323C-6772-274B-BF386C7F7121}"/>
              </a:ext>
            </a:extLst>
          </p:cNvPr>
          <p:cNvSpPr/>
          <p:nvPr/>
        </p:nvSpPr>
        <p:spPr>
          <a:xfrm>
            <a:off x="8674100" y="1092200"/>
            <a:ext cx="3289300" cy="355600"/>
          </a:xfrm>
          <a:prstGeom prst="roundRect">
            <a:avLst/>
          </a:prstGeom>
          <a:solidFill>
            <a:srgbClr val="F9F6FF"/>
          </a:solidFill>
          <a:ln w="12700">
            <a:solidFill>
              <a:srgbClr val="673A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t"/>
          <a:lstStyle/>
          <a:p>
            <a:pPr algn="ctr"/>
            <a:r>
              <a:rPr lang="zh-CN" altLang="en-US" sz="1600" b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结果与验证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69A6AC8-30B7-C1BE-28AE-190B19F2998A}"/>
              </a:ext>
            </a:extLst>
          </p:cNvPr>
          <p:cNvSpPr/>
          <p:nvPr/>
        </p:nvSpPr>
        <p:spPr>
          <a:xfrm>
            <a:off x="228600" y="1574800"/>
            <a:ext cx="3289300" cy="1168400"/>
          </a:xfrm>
          <a:prstGeom prst="roundRect">
            <a:avLst/>
          </a:prstGeom>
          <a:solidFill>
            <a:srgbClr val="FFFDFD"/>
          </a:solidFill>
          <a:ln w="13970">
            <a:solidFill>
              <a:srgbClr val="D6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C2A5B1A-3680-FDF0-29F8-083269682E3E}"/>
              </a:ext>
            </a:extLst>
          </p:cNvPr>
          <p:cNvSpPr/>
          <p:nvPr/>
        </p:nvSpPr>
        <p:spPr>
          <a:xfrm>
            <a:off x="330200" y="1651000"/>
            <a:ext cx="3086100" cy="50800"/>
          </a:xfrm>
          <a:prstGeom prst="rect">
            <a:avLst/>
          </a:prstGeom>
          <a:solidFill>
            <a:srgbClr val="D621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7E88652-B6EC-365C-FEA1-3B3A58343A65}"/>
              </a:ext>
            </a:extLst>
          </p:cNvPr>
          <p:cNvSpPr txBox="1"/>
          <p:nvPr/>
        </p:nvSpPr>
        <p:spPr>
          <a:xfrm>
            <a:off x="381000" y="1828800"/>
            <a:ext cx="2984500" cy="276999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t">
            <a:spAutoFit/>
          </a:bodyPr>
          <a:lstStyle/>
          <a:p>
            <a:r>
              <a:rPr lang="en-US" altLang="zh-CN" sz="1300" b="1">
                <a:solidFill>
                  <a:srgbClr val="D62121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A. </a:t>
            </a:r>
            <a:r>
              <a:rPr lang="zh-CN" altLang="en-US" sz="1300" b="1">
                <a:solidFill>
                  <a:srgbClr val="D62121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研究背景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27B161-C713-527F-47B8-3FC03FA65500}"/>
              </a:ext>
            </a:extLst>
          </p:cNvPr>
          <p:cNvSpPr txBox="1"/>
          <p:nvPr/>
        </p:nvSpPr>
        <p:spPr>
          <a:xfrm>
            <a:off x="381000" y="2133600"/>
            <a:ext cx="2984500" cy="446276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t">
            <a:spAutoFit/>
          </a:bodyPr>
          <a:lstStyle/>
          <a:p>
            <a:r>
              <a:rPr lang="en-US" altLang="zh-CN" sz="800">
                <a:solidFill>
                  <a:srgbClr val="14141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• </a:t>
            </a:r>
            <a:r>
              <a:rPr lang="zh-CN" altLang="en-US" sz="800">
                <a:solidFill>
                  <a:srgbClr val="14141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电力需求响应启发
</a:t>
            </a:r>
            <a:r>
              <a:rPr lang="en-US" altLang="zh-CN" sz="800">
                <a:solidFill>
                  <a:srgbClr val="14141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• </a:t>
            </a:r>
            <a:r>
              <a:rPr lang="zh-CN" altLang="en-US" sz="800">
                <a:solidFill>
                  <a:srgbClr val="14141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推理请求存在时段负载波动
</a:t>
            </a:r>
            <a:r>
              <a:rPr lang="en-US" altLang="zh-CN" sz="800">
                <a:solidFill>
                  <a:srgbClr val="14141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• </a:t>
            </a:r>
            <a:r>
              <a:rPr lang="zh-CN" altLang="en-US" sz="800">
                <a:solidFill>
                  <a:srgbClr val="14141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过载导致 </a:t>
            </a:r>
            <a:r>
              <a:rPr lang="en-US" altLang="zh-CN" sz="800">
                <a:solidFill>
                  <a:srgbClr val="14141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TTFT↑</a:t>
            </a:r>
            <a:r>
              <a:rPr lang="zh-CN" altLang="en-US" sz="800">
                <a:solidFill>
                  <a:srgbClr val="14141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、超时↑、有效吞吐↓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C3B7E57-95A0-E375-DA24-811379B26E40}"/>
              </a:ext>
            </a:extLst>
          </p:cNvPr>
          <p:cNvCxnSpPr/>
          <p:nvPr/>
        </p:nvCxnSpPr>
        <p:spPr>
          <a:xfrm>
            <a:off x="1866900" y="2781300"/>
            <a:ext cx="0" cy="165100"/>
          </a:xfrm>
          <a:prstGeom prst="straightConnector1">
            <a:avLst/>
          </a:prstGeom>
          <a:ln w="30480">
            <a:solidFill>
              <a:srgbClr val="576B7D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419020D-FE6A-B9CA-405D-1862733EB418}"/>
              </a:ext>
            </a:extLst>
          </p:cNvPr>
          <p:cNvSpPr/>
          <p:nvPr/>
        </p:nvSpPr>
        <p:spPr>
          <a:xfrm>
            <a:off x="228600" y="2997200"/>
            <a:ext cx="3289300" cy="1168400"/>
          </a:xfrm>
          <a:prstGeom prst="roundRect">
            <a:avLst/>
          </a:prstGeom>
          <a:solidFill>
            <a:srgbClr val="FFFDF8"/>
          </a:solidFill>
          <a:ln w="13970">
            <a:solidFill>
              <a:srgbClr val="F45B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BEA6B2E-01F6-9C38-1160-51DFF85227DD}"/>
              </a:ext>
            </a:extLst>
          </p:cNvPr>
          <p:cNvSpPr/>
          <p:nvPr/>
        </p:nvSpPr>
        <p:spPr>
          <a:xfrm>
            <a:off x="330200" y="3073400"/>
            <a:ext cx="3086100" cy="50800"/>
          </a:xfrm>
          <a:prstGeom prst="rect">
            <a:avLst/>
          </a:prstGeom>
          <a:solidFill>
            <a:srgbClr val="F45B1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D8F2F1-9774-DE77-05A1-74BC26A8D11F}"/>
              </a:ext>
            </a:extLst>
          </p:cNvPr>
          <p:cNvSpPr txBox="1"/>
          <p:nvPr/>
        </p:nvSpPr>
        <p:spPr>
          <a:xfrm>
            <a:off x="381000" y="3251200"/>
            <a:ext cx="2984500" cy="276999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t">
            <a:spAutoFit/>
          </a:bodyPr>
          <a:lstStyle/>
          <a:p>
            <a:r>
              <a:rPr lang="en-US" altLang="zh-CN" sz="1300" b="1">
                <a:solidFill>
                  <a:srgbClr val="F45B18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B. </a:t>
            </a:r>
            <a:r>
              <a:rPr lang="zh-CN" altLang="en-US" sz="1300" b="1">
                <a:solidFill>
                  <a:srgbClr val="F45B18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建模目标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E6AAD4E-2E91-5B2C-1BA1-2A1ECF41CE34}"/>
              </a:ext>
            </a:extLst>
          </p:cNvPr>
          <p:cNvSpPr txBox="1"/>
          <p:nvPr/>
        </p:nvSpPr>
        <p:spPr>
          <a:xfrm>
            <a:off x="381000" y="3556000"/>
            <a:ext cx="2984500" cy="446276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t">
            <a:spAutoFit/>
          </a:bodyPr>
          <a:lstStyle/>
          <a:p>
            <a:r>
              <a:rPr lang="en-US" altLang="zh-CN" sz="800">
                <a:solidFill>
                  <a:srgbClr val="14141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• </a:t>
            </a:r>
            <a:r>
              <a:rPr lang="zh-CN" altLang="en-US" sz="800">
                <a:solidFill>
                  <a:srgbClr val="14141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固定平均标价约束下发布时段价格
</a:t>
            </a:r>
            <a:r>
              <a:rPr lang="en-US" altLang="zh-CN" sz="800">
                <a:solidFill>
                  <a:srgbClr val="14141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• </a:t>
            </a:r>
            <a:r>
              <a:rPr lang="zh-CN" altLang="en-US" sz="800">
                <a:solidFill>
                  <a:srgbClr val="14141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迁移弹性需求，缓解峰时拥挤
</a:t>
            </a:r>
            <a:r>
              <a:rPr lang="en-US" altLang="zh-CN" sz="800">
                <a:solidFill>
                  <a:srgbClr val="14141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• </a:t>
            </a:r>
            <a:r>
              <a:rPr lang="zh-CN" altLang="en-US" sz="800">
                <a:solidFill>
                  <a:srgbClr val="14141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同时提升利润与 </a:t>
            </a:r>
            <a:r>
              <a:rPr lang="en-US" altLang="zh-CN" sz="800">
                <a:solidFill>
                  <a:srgbClr val="14141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QoS</a:t>
            </a:r>
            <a:endParaRPr lang="zh-CN" altLang="en-US" sz="800">
              <a:solidFill>
                <a:srgbClr val="141414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42180E12-B28D-C6CE-0D82-650C19FC931D}"/>
              </a:ext>
            </a:extLst>
          </p:cNvPr>
          <p:cNvCxnSpPr/>
          <p:nvPr/>
        </p:nvCxnSpPr>
        <p:spPr>
          <a:xfrm>
            <a:off x="1866900" y="4203700"/>
            <a:ext cx="0" cy="190500"/>
          </a:xfrm>
          <a:prstGeom prst="straightConnector1">
            <a:avLst/>
          </a:prstGeom>
          <a:ln w="30480">
            <a:solidFill>
              <a:srgbClr val="576B7D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09F57AF8-70FB-B9E0-65FB-0ABAC89730DD}"/>
              </a:ext>
            </a:extLst>
          </p:cNvPr>
          <p:cNvSpPr/>
          <p:nvPr/>
        </p:nvSpPr>
        <p:spPr>
          <a:xfrm>
            <a:off x="228600" y="4445000"/>
            <a:ext cx="3289300" cy="1117600"/>
          </a:xfrm>
          <a:prstGeom prst="roundRect">
            <a:avLst/>
          </a:prstGeom>
          <a:solidFill>
            <a:srgbClr val="FDFBFF"/>
          </a:solidFill>
          <a:ln w="13970">
            <a:solidFill>
              <a:srgbClr val="673A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2BDAF09-8B45-ADEE-B1A2-1A39DD9623DE}"/>
              </a:ext>
            </a:extLst>
          </p:cNvPr>
          <p:cNvSpPr/>
          <p:nvPr/>
        </p:nvSpPr>
        <p:spPr>
          <a:xfrm>
            <a:off x="330200" y="4521200"/>
            <a:ext cx="3086100" cy="50800"/>
          </a:xfrm>
          <a:prstGeom prst="rect">
            <a:avLst/>
          </a:prstGeom>
          <a:solidFill>
            <a:srgbClr val="673AB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582F40A-0BEA-240F-AE21-0356C4C02F76}"/>
              </a:ext>
            </a:extLst>
          </p:cNvPr>
          <p:cNvSpPr txBox="1"/>
          <p:nvPr/>
        </p:nvSpPr>
        <p:spPr>
          <a:xfrm>
            <a:off x="381000" y="4699000"/>
            <a:ext cx="2984500" cy="276999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t">
            <a:spAutoFit/>
          </a:bodyPr>
          <a:lstStyle/>
          <a:p>
            <a:r>
              <a:rPr lang="en-US" altLang="zh-CN" sz="1300" b="1">
                <a:solidFill>
                  <a:srgbClr val="673AB7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C. </a:t>
            </a:r>
            <a:r>
              <a:rPr lang="zh-CN" altLang="en-US" sz="1300" b="1">
                <a:solidFill>
                  <a:srgbClr val="673AB7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核心思路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7DFC0D4-4F07-BCDE-1C2B-C9F8F20DAB9F}"/>
              </a:ext>
            </a:extLst>
          </p:cNvPr>
          <p:cNvSpPr txBox="1"/>
          <p:nvPr/>
        </p:nvSpPr>
        <p:spPr>
          <a:xfrm>
            <a:off x="381000" y="5003800"/>
            <a:ext cx="2984500" cy="446276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t">
            <a:spAutoFit/>
          </a:bodyPr>
          <a:lstStyle/>
          <a:p>
            <a:r>
              <a:rPr lang="en-US" altLang="zh-CN" sz="800">
                <a:solidFill>
                  <a:srgbClr val="14141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• </a:t>
            </a:r>
            <a:r>
              <a:rPr lang="zh-CN" altLang="en-US" sz="800">
                <a:solidFill>
                  <a:srgbClr val="14141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单平台领导者</a:t>
            </a:r>
            <a:r>
              <a:rPr lang="en-US" altLang="zh-CN" sz="800">
                <a:solidFill>
                  <a:srgbClr val="14141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--</a:t>
            </a:r>
            <a:r>
              <a:rPr lang="zh-CN" altLang="en-US" sz="800">
                <a:solidFill>
                  <a:srgbClr val="14141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跟随者结构
</a:t>
            </a:r>
            <a:r>
              <a:rPr lang="en-US" altLang="zh-CN" sz="800">
                <a:solidFill>
                  <a:srgbClr val="14141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• </a:t>
            </a:r>
            <a:r>
              <a:rPr lang="zh-CN" altLang="en-US" sz="800">
                <a:solidFill>
                  <a:srgbClr val="14141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价格信号协调跨时段需求迁移
</a:t>
            </a:r>
            <a:r>
              <a:rPr lang="en-US" altLang="zh-CN" sz="800">
                <a:solidFill>
                  <a:srgbClr val="14141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• QoS </a:t>
            </a:r>
            <a:r>
              <a:rPr lang="zh-CN" altLang="en-US" sz="800">
                <a:solidFill>
                  <a:srgbClr val="14141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退化进入平台目标</a:t>
            </a: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666EC079-EC20-0F2B-677A-491C7D1CE150}"/>
              </a:ext>
            </a:extLst>
          </p:cNvPr>
          <p:cNvSpPr/>
          <p:nvPr/>
        </p:nvSpPr>
        <p:spPr>
          <a:xfrm>
            <a:off x="4787900" y="2032000"/>
            <a:ext cx="914400" cy="698500"/>
          </a:xfrm>
          <a:prstGeom prst="ellipse">
            <a:avLst/>
          </a:prstGeom>
          <a:solidFill>
            <a:srgbClr val="EFF8FF"/>
          </a:solidFill>
          <a:ln w="27940">
            <a:solidFill>
              <a:srgbClr val="005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D51D0217-E2DC-49CC-A5A6-F7F06E471282}"/>
              </a:ext>
            </a:extLst>
          </p:cNvPr>
          <p:cNvSpPr/>
          <p:nvPr/>
        </p:nvSpPr>
        <p:spPr>
          <a:xfrm>
            <a:off x="5461000" y="1651000"/>
            <a:ext cx="1143000" cy="965200"/>
          </a:xfrm>
          <a:prstGeom prst="ellipse">
            <a:avLst/>
          </a:prstGeom>
          <a:solidFill>
            <a:srgbClr val="EFF8FF"/>
          </a:solidFill>
          <a:ln w="27940">
            <a:solidFill>
              <a:srgbClr val="005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DD56925F-9DF9-7961-0C88-7F415BAF0092}"/>
              </a:ext>
            </a:extLst>
          </p:cNvPr>
          <p:cNvSpPr/>
          <p:nvPr/>
        </p:nvSpPr>
        <p:spPr>
          <a:xfrm>
            <a:off x="6350000" y="1828800"/>
            <a:ext cx="1041400" cy="787400"/>
          </a:xfrm>
          <a:prstGeom prst="ellipse">
            <a:avLst/>
          </a:prstGeom>
          <a:solidFill>
            <a:srgbClr val="EFF8FF"/>
          </a:solidFill>
          <a:ln w="27940">
            <a:solidFill>
              <a:srgbClr val="005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943CC3AD-3FE2-056F-FB43-78CDE0C68D24}"/>
              </a:ext>
            </a:extLst>
          </p:cNvPr>
          <p:cNvSpPr/>
          <p:nvPr/>
        </p:nvSpPr>
        <p:spPr>
          <a:xfrm>
            <a:off x="4521200" y="2273300"/>
            <a:ext cx="838200" cy="558800"/>
          </a:xfrm>
          <a:prstGeom prst="ellipse">
            <a:avLst/>
          </a:prstGeom>
          <a:solidFill>
            <a:srgbClr val="EFF8FF"/>
          </a:solidFill>
          <a:ln w="27940">
            <a:solidFill>
              <a:srgbClr val="005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119E8680-83D1-FD27-07AC-371C2F307771}"/>
              </a:ext>
            </a:extLst>
          </p:cNvPr>
          <p:cNvSpPr/>
          <p:nvPr/>
        </p:nvSpPr>
        <p:spPr>
          <a:xfrm>
            <a:off x="7112000" y="2286000"/>
            <a:ext cx="711200" cy="533400"/>
          </a:xfrm>
          <a:prstGeom prst="ellipse">
            <a:avLst/>
          </a:prstGeom>
          <a:solidFill>
            <a:srgbClr val="EFF8FF"/>
          </a:solidFill>
          <a:ln w="27940">
            <a:solidFill>
              <a:srgbClr val="005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27DE4E6-8449-9382-A1B0-CB3C0A873BBB}"/>
              </a:ext>
            </a:extLst>
          </p:cNvPr>
          <p:cNvSpPr txBox="1"/>
          <p:nvPr/>
        </p:nvSpPr>
        <p:spPr>
          <a:xfrm>
            <a:off x="5283200" y="2032000"/>
            <a:ext cx="1651000" cy="246221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t">
            <a:spAutoFit/>
          </a:bodyPr>
          <a:lstStyle/>
          <a:p>
            <a:pPr algn="ctr"/>
            <a:r>
              <a:rPr lang="en-US" altLang="zh-CN" sz="1100" b="1">
                <a:solidFill>
                  <a:srgbClr val="002B7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Token </a:t>
            </a:r>
            <a:r>
              <a:rPr lang="zh-CN" altLang="en-US" sz="1100" b="1">
                <a:solidFill>
                  <a:srgbClr val="002B7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平台 </a:t>
            </a:r>
            <a:r>
              <a:rPr lang="en-US" altLang="zh-CN" sz="1100" b="1">
                <a:solidFill>
                  <a:srgbClr val="002B7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/ </a:t>
            </a:r>
            <a:r>
              <a:rPr lang="zh-CN" altLang="en-US" sz="1100" b="1">
                <a:solidFill>
                  <a:srgbClr val="002B7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聚合器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34B9E62-05E1-883D-CFCA-4FBECB461B24}"/>
              </a:ext>
            </a:extLst>
          </p:cNvPr>
          <p:cNvSpPr/>
          <p:nvPr/>
        </p:nvSpPr>
        <p:spPr>
          <a:xfrm>
            <a:off x="5486400" y="2387600"/>
            <a:ext cx="571500" cy="533400"/>
          </a:xfrm>
          <a:prstGeom prst="rect">
            <a:avLst/>
          </a:prstGeom>
          <a:solidFill>
            <a:srgbClr val="0A416E"/>
          </a:solidFill>
          <a:ln>
            <a:solidFill>
              <a:srgbClr val="0A41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2DC23F0-608C-E691-8627-DAA96EFCEC3B}"/>
              </a:ext>
            </a:extLst>
          </p:cNvPr>
          <p:cNvSpPr/>
          <p:nvPr/>
        </p:nvSpPr>
        <p:spPr>
          <a:xfrm>
            <a:off x="5588000" y="2463800"/>
            <a:ext cx="355600" cy="50800"/>
          </a:xfrm>
          <a:prstGeom prst="rect">
            <a:avLst/>
          </a:prstGeom>
          <a:solidFill>
            <a:srgbClr val="409A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30EDED1-B16B-D41B-48F8-64E25ADECE4C}"/>
              </a:ext>
            </a:extLst>
          </p:cNvPr>
          <p:cNvSpPr/>
          <p:nvPr/>
        </p:nvSpPr>
        <p:spPr>
          <a:xfrm>
            <a:off x="5588000" y="2590800"/>
            <a:ext cx="355600" cy="50800"/>
          </a:xfrm>
          <a:prstGeom prst="rect">
            <a:avLst/>
          </a:prstGeom>
          <a:solidFill>
            <a:srgbClr val="409A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93B7702-AD51-AC6B-BEC5-39838EE0E1C7}"/>
              </a:ext>
            </a:extLst>
          </p:cNvPr>
          <p:cNvSpPr/>
          <p:nvPr/>
        </p:nvSpPr>
        <p:spPr>
          <a:xfrm>
            <a:off x="5588000" y="2717800"/>
            <a:ext cx="355600" cy="50800"/>
          </a:xfrm>
          <a:prstGeom prst="rect">
            <a:avLst/>
          </a:prstGeom>
          <a:solidFill>
            <a:srgbClr val="409A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15366611-48A1-146F-4FAA-223795B5834B}"/>
              </a:ext>
            </a:extLst>
          </p:cNvPr>
          <p:cNvSpPr/>
          <p:nvPr/>
        </p:nvSpPr>
        <p:spPr>
          <a:xfrm>
            <a:off x="6223000" y="2387600"/>
            <a:ext cx="889000" cy="533400"/>
          </a:xfrm>
          <a:prstGeom prst="roundRect">
            <a:avLst/>
          </a:prstGeom>
          <a:solidFill>
            <a:srgbClr val="F6FAFF"/>
          </a:solidFill>
          <a:ln>
            <a:solidFill>
              <a:srgbClr val="005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38B0A65-732D-11BE-996D-FCF1A5FB0D06}"/>
              </a:ext>
            </a:extLst>
          </p:cNvPr>
          <p:cNvSpPr txBox="1"/>
          <p:nvPr/>
        </p:nvSpPr>
        <p:spPr>
          <a:xfrm>
            <a:off x="6299200" y="2463800"/>
            <a:ext cx="736600" cy="446276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t">
            <a:spAutoFit/>
          </a:bodyPr>
          <a:lstStyle/>
          <a:p>
            <a:pPr algn="ctr"/>
            <a:r>
              <a:rPr lang="zh-CN" altLang="en-US" sz="800" b="1">
                <a:solidFill>
                  <a:srgbClr val="002B7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价格
需求
</a:t>
            </a:r>
            <a:r>
              <a:rPr lang="en-US" altLang="zh-CN" sz="800" b="1">
                <a:solidFill>
                  <a:srgbClr val="002B7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QoS</a:t>
            </a:r>
            <a:endParaRPr lang="zh-CN" altLang="en-US" sz="800" b="1">
              <a:solidFill>
                <a:srgbClr val="002B7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7" name="等腰三角形 36">
            <a:extLst>
              <a:ext uri="{FF2B5EF4-FFF2-40B4-BE49-F238E27FC236}">
                <a16:creationId xmlns:a16="http://schemas.microsoft.com/office/drawing/2014/main" id="{19B28C28-FD15-92DA-19EA-9F87D9BCA507}"/>
              </a:ext>
            </a:extLst>
          </p:cNvPr>
          <p:cNvSpPr/>
          <p:nvPr/>
        </p:nvSpPr>
        <p:spPr>
          <a:xfrm>
            <a:off x="7188200" y="2438400"/>
            <a:ext cx="431800" cy="482600"/>
          </a:xfrm>
          <a:prstGeom prst="triangle">
            <a:avLst/>
          </a:prstGeom>
          <a:solidFill>
            <a:srgbClr val="419BD2"/>
          </a:solidFill>
          <a:ln>
            <a:solidFill>
              <a:srgbClr val="005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1292C112-D8C4-E4DC-576F-DC73D775A15D}"/>
              </a:ext>
            </a:extLst>
          </p:cNvPr>
          <p:cNvSpPr/>
          <p:nvPr/>
        </p:nvSpPr>
        <p:spPr>
          <a:xfrm>
            <a:off x="3987800" y="3149600"/>
            <a:ext cx="939800" cy="685800"/>
          </a:xfrm>
          <a:prstGeom prst="roundRect">
            <a:avLst/>
          </a:prstGeom>
          <a:solidFill>
            <a:srgbClr val="F8FCFF"/>
          </a:solidFill>
          <a:ln w="12700">
            <a:solidFill>
              <a:srgbClr val="005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t"/>
          <a:lstStyle/>
          <a:p>
            <a:pPr algn="ctr"/>
            <a:r>
              <a:rPr lang="zh-CN" altLang="en-US" sz="800">
                <a:solidFill>
                  <a:srgbClr val="002B7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数据管理
</a:t>
            </a:r>
            <a:r>
              <a:rPr lang="en-US" altLang="zh-CN" sz="800">
                <a:solidFill>
                  <a:srgbClr val="002B7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D_t, u_t</a:t>
            </a:r>
            <a:endParaRPr lang="zh-CN" altLang="en-US" sz="800">
              <a:solidFill>
                <a:srgbClr val="002B7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1D475C1E-E4F5-3195-1215-75A0FDCAF2B5}"/>
              </a:ext>
            </a:extLst>
          </p:cNvPr>
          <p:cNvSpPr/>
          <p:nvPr/>
        </p:nvSpPr>
        <p:spPr>
          <a:xfrm>
            <a:off x="5054600" y="3149600"/>
            <a:ext cx="939800" cy="685800"/>
          </a:xfrm>
          <a:prstGeom prst="roundRect">
            <a:avLst/>
          </a:prstGeom>
          <a:solidFill>
            <a:srgbClr val="F8FCFF"/>
          </a:solidFill>
          <a:ln w="12700">
            <a:solidFill>
              <a:srgbClr val="005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t"/>
          <a:lstStyle/>
          <a:p>
            <a:pPr algn="ctr"/>
            <a:r>
              <a:rPr lang="zh-CN" altLang="en-US" sz="800">
                <a:solidFill>
                  <a:srgbClr val="002B7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需求预测
</a:t>
            </a:r>
            <a:r>
              <a:rPr lang="en-US" altLang="zh-CN" sz="800">
                <a:solidFill>
                  <a:srgbClr val="002B7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R_t + F_t</a:t>
            </a:r>
            <a:endParaRPr lang="zh-CN" altLang="en-US" sz="800">
              <a:solidFill>
                <a:srgbClr val="002B7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7A494DDB-1305-6094-D9CA-91C75377A98B}"/>
              </a:ext>
            </a:extLst>
          </p:cNvPr>
          <p:cNvSpPr/>
          <p:nvPr/>
        </p:nvSpPr>
        <p:spPr>
          <a:xfrm>
            <a:off x="6121400" y="3149600"/>
            <a:ext cx="939800" cy="685800"/>
          </a:xfrm>
          <a:prstGeom prst="roundRect">
            <a:avLst/>
          </a:prstGeom>
          <a:solidFill>
            <a:srgbClr val="F8FCFF"/>
          </a:solidFill>
          <a:ln w="12700">
            <a:solidFill>
              <a:srgbClr val="005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t"/>
          <a:lstStyle/>
          <a:p>
            <a:pPr algn="ctr"/>
            <a:r>
              <a:rPr lang="zh-CN" altLang="en-US" sz="800">
                <a:solidFill>
                  <a:srgbClr val="002B7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约束优化
</a:t>
            </a:r>
            <a:r>
              <a:rPr lang="en-US" altLang="zh-CN" sz="800">
                <a:solidFill>
                  <a:srgbClr val="002B7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mean(p)=p̄</a:t>
            </a:r>
            <a:endParaRPr lang="zh-CN" altLang="en-US" sz="800">
              <a:solidFill>
                <a:srgbClr val="002B7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9FC6FB4B-5B66-F1C8-B678-E381878DECFB}"/>
              </a:ext>
            </a:extLst>
          </p:cNvPr>
          <p:cNvSpPr/>
          <p:nvPr/>
        </p:nvSpPr>
        <p:spPr>
          <a:xfrm>
            <a:off x="7188200" y="3149600"/>
            <a:ext cx="939800" cy="685800"/>
          </a:xfrm>
          <a:prstGeom prst="roundRect">
            <a:avLst/>
          </a:prstGeom>
          <a:solidFill>
            <a:srgbClr val="F8FCFF"/>
          </a:solidFill>
          <a:ln w="12700">
            <a:solidFill>
              <a:srgbClr val="005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t"/>
          <a:lstStyle/>
          <a:p>
            <a:pPr algn="ctr"/>
            <a:r>
              <a:rPr lang="zh-CN" altLang="en-US" sz="800">
                <a:solidFill>
                  <a:srgbClr val="002B7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监测诊断
</a:t>
            </a:r>
            <a:r>
              <a:rPr lang="en-US" altLang="zh-CN" sz="800">
                <a:solidFill>
                  <a:srgbClr val="002B7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QoS / SLA</a:t>
            </a:r>
            <a:endParaRPr lang="zh-CN" altLang="en-US" sz="800">
              <a:solidFill>
                <a:srgbClr val="002B7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7D59BD58-7133-8BA1-A328-7222B11AB519}"/>
              </a:ext>
            </a:extLst>
          </p:cNvPr>
          <p:cNvCxnSpPr/>
          <p:nvPr/>
        </p:nvCxnSpPr>
        <p:spPr>
          <a:xfrm>
            <a:off x="6096000" y="3835400"/>
            <a:ext cx="0" cy="355600"/>
          </a:xfrm>
          <a:prstGeom prst="straightConnector1">
            <a:avLst/>
          </a:prstGeom>
          <a:ln w="25400">
            <a:solidFill>
              <a:srgbClr val="505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3D4D1350-2807-049C-9275-7FA0789F5A77}"/>
              </a:ext>
            </a:extLst>
          </p:cNvPr>
          <p:cNvSpPr/>
          <p:nvPr/>
        </p:nvSpPr>
        <p:spPr>
          <a:xfrm>
            <a:off x="4191000" y="4191000"/>
            <a:ext cx="3810000" cy="1066800"/>
          </a:xfrm>
          <a:prstGeom prst="roundRect">
            <a:avLst/>
          </a:prstGeom>
          <a:solidFill>
            <a:srgbClr val="FDFEFF"/>
          </a:solidFill>
          <a:ln w="16510">
            <a:solidFill>
              <a:srgbClr val="005CDC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1BA5315-302B-2540-EF54-4824AA0E71E2}"/>
              </a:ext>
            </a:extLst>
          </p:cNvPr>
          <p:cNvSpPr txBox="1"/>
          <p:nvPr/>
        </p:nvSpPr>
        <p:spPr>
          <a:xfrm>
            <a:off x="4343400" y="4267200"/>
            <a:ext cx="3530600" cy="246221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t">
            <a:spAutoFit/>
          </a:bodyPr>
          <a:lstStyle/>
          <a:p>
            <a:pPr algn="ctr"/>
            <a:r>
              <a:rPr lang="zh-CN" altLang="en-US" sz="1100" b="1">
                <a:solidFill>
                  <a:srgbClr val="002B7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动态定价博弈（领导者</a:t>
            </a:r>
            <a:r>
              <a:rPr lang="en-US" altLang="zh-CN" sz="1100" b="1">
                <a:solidFill>
                  <a:srgbClr val="002B7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--</a:t>
            </a:r>
            <a:r>
              <a:rPr lang="zh-CN" altLang="en-US" sz="1100" b="1">
                <a:solidFill>
                  <a:srgbClr val="002B7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跟随者）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208FAF04-70C6-7B0B-A6CB-F032B59C0B8F}"/>
              </a:ext>
            </a:extLst>
          </p:cNvPr>
          <p:cNvSpPr/>
          <p:nvPr/>
        </p:nvSpPr>
        <p:spPr>
          <a:xfrm>
            <a:off x="4445000" y="4597400"/>
            <a:ext cx="685800" cy="50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C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t"/>
          <a:lstStyle/>
          <a:p>
            <a:pPr algn="ctr"/>
            <a:r>
              <a:rPr lang="zh-CN" altLang="en-US" sz="7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需求响应
</a:t>
            </a:r>
            <a:r>
              <a:rPr lang="en-US" altLang="zh-CN" sz="7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D_t</a:t>
            </a:r>
            <a:endParaRPr lang="zh-CN" altLang="en-US" sz="700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B39A3881-6817-81CB-722A-1AB60EA33ED1}"/>
              </a:ext>
            </a:extLst>
          </p:cNvPr>
          <p:cNvCxnSpPr/>
          <p:nvPr/>
        </p:nvCxnSpPr>
        <p:spPr>
          <a:xfrm>
            <a:off x="5143500" y="4851400"/>
            <a:ext cx="139700" cy="0"/>
          </a:xfrm>
          <a:prstGeom prst="straightConnector1">
            <a:avLst/>
          </a:prstGeom>
          <a:ln w="17780">
            <a:solidFill>
              <a:srgbClr val="505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B08173E3-E17C-D31D-A634-428C1EBA68F2}"/>
              </a:ext>
            </a:extLst>
          </p:cNvPr>
          <p:cNvSpPr/>
          <p:nvPr/>
        </p:nvSpPr>
        <p:spPr>
          <a:xfrm>
            <a:off x="5308600" y="4597400"/>
            <a:ext cx="685800" cy="50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C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t"/>
          <a:lstStyle/>
          <a:p>
            <a:pPr algn="ctr"/>
            <a:r>
              <a:rPr lang="zh-CN" altLang="en-US" sz="7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价格决策
</a:t>
            </a:r>
            <a:r>
              <a:rPr lang="en-US" altLang="zh-CN" sz="7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p_t</a:t>
            </a:r>
            <a:endParaRPr lang="zh-CN" altLang="en-US" sz="700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85D4D9C4-5B48-A089-2224-021D42F48A0B}"/>
              </a:ext>
            </a:extLst>
          </p:cNvPr>
          <p:cNvCxnSpPr/>
          <p:nvPr/>
        </p:nvCxnSpPr>
        <p:spPr>
          <a:xfrm>
            <a:off x="6007100" y="4851400"/>
            <a:ext cx="139700" cy="0"/>
          </a:xfrm>
          <a:prstGeom prst="straightConnector1">
            <a:avLst/>
          </a:prstGeom>
          <a:ln w="17780">
            <a:solidFill>
              <a:srgbClr val="505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CC9285A5-ADC0-CA51-E38B-5F93D580F741}"/>
              </a:ext>
            </a:extLst>
          </p:cNvPr>
          <p:cNvSpPr/>
          <p:nvPr/>
        </p:nvSpPr>
        <p:spPr>
          <a:xfrm>
            <a:off x="6172200" y="4597400"/>
            <a:ext cx="685800" cy="50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C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t"/>
          <a:lstStyle/>
          <a:p>
            <a:pPr algn="ctr"/>
            <a:r>
              <a:rPr lang="fr-FR" altLang="zh-CN" sz="7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QoS </a:t>
            </a:r>
            <a:r>
              <a:rPr lang="zh-CN" altLang="fr-FR" sz="7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代理
</a:t>
            </a:r>
            <a:r>
              <a:rPr lang="fr-FR" altLang="zh-CN" sz="7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q(u_t)</a:t>
            </a:r>
            <a:endParaRPr lang="zh-CN" altLang="en-US" sz="700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DC3C8D4F-4C17-C0D0-1B28-46EFC7695D91}"/>
              </a:ext>
            </a:extLst>
          </p:cNvPr>
          <p:cNvCxnSpPr/>
          <p:nvPr/>
        </p:nvCxnSpPr>
        <p:spPr>
          <a:xfrm>
            <a:off x="6870700" y="4851400"/>
            <a:ext cx="139700" cy="0"/>
          </a:xfrm>
          <a:prstGeom prst="straightConnector1">
            <a:avLst/>
          </a:prstGeom>
          <a:ln w="17780">
            <a:solidFill>
              <a:srgbClr val="505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72A702E6-4CBB-2A9C-82DF-E00828E4203F}"/>
              </a:ext>
            </a:extLst>
          </p:cNvPr>
          <p:cNvSpPr/>
          <p:nvPr/>
        </p:nvSpPr>
        <p:spPr>
          <a:xfrm>
            <a:off x="7035800" y="4597400"/>
            <a:ext cx="685800" cy="50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C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t"/>
          <a:lstStyle/>
          <a:p>
            <a:pPr algn="ctr"/>
            <a:r>
              <a:rPr lang="zh-CN" altLang="en-US" sz="7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目标函数
</a:t>
            </a:r>
            <a:r>
              <a:rPr lang="el-GR" altLang="zh-CN" sz="7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Π / </a:t>
            </a:r>
            <a:r>
              <a:rPr lang="en-US" altLang="zh-CN" sz="7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Welfare</a:t>
            </a:r>
            <a:endParaRPr lang="zh-CN" altLang="en-US" sz="700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DEB6CFFC-4124-217A-72B6-2E0B53938D53}"/>
              </a:ext>
            </a:extLst>
          </p:cNvPr>
          <p:cNvCxnSpPr/>
          <p:nvPr/>
        </p:nvCxnSpPr>
        <p:spPr>
          <a:xfrm>
            <a:off x="7950200" y="4749800"/>
            <a:ext cx="304800" cy="0"/>
          </a:xfrm>
          <a:prstGeom prst="straightConnector1">
            <a:avLst/>
          </a:prstGeom>
          <a:ln w="25400">
            <a:solidFill>
              <a:srgbClr val="F45B1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E7656C7E-BFDC-1494-7CBD-55D1FA697CC8}"/>
              </a:ext>
            </a:extLst>
          </p:cNvPr>
          <p:cNvSpPr txBox="1"/>
          <p:nvPr/>
        </p:nvSpPr>
        <p:spPr>
          <a:xfrm>
            <a:off x="8051800" y="4343400"/>
            <a:ext cx="508000" cy="323165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t">
            <a:spAutoFit/>
          </a:bodyPr>
          <a:lstStyle/>
          <a:p>
            <a:pPr algn="ctr"/>
            <a:r>
              <a:rPr lang="zh-CN" altLang="en-US" sz="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负载
供给</a:t>
            </a: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D0B7D86F-4C62-0F40-17F6-B97AB633AF78}"/>
              </a:ext>
            </a:extLst>
          </p:cNvPr>
          <p:cNvCxnSpPr/>
          <p:nvPr/>
        </p:nvCxnSpPr>
        <p:spPr>
          <a:xfrm flipH="1">
            <a:off x="3632200" y="4749800"/>
            <a:ext cx="292100" cy="0"/>
          </a:xfrm>
          <a:prstGeom prst="straightConnector1">
            <a:avLst/>
          </a:prstGeom>
          <a:ln w="25400">
            <a:solidFill>
              <a:srgbClr val="005CD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6AB7B96C-6EB0-CCCD-D713-FC04AB05F9E1}"/>
              </a:ext>
            </a:extLst>
          </p:cNvPr>
          <p:cNvSpPr txBox="1"/>
          <p:nvPr/>
        </p:nvSpPr>
        <p:spPr>
          <a:xfrm>
            <a:off x="3276600" y="4343400"/>
            <a:ext cx="508000" cy="323165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t">
            <a:spAutoFit/>
          </a:bodyPr>
          <a:lstStyle/>
          <a:p>
            <a:pPr algn="ctr"/>
            <a:r>
              <a:rPr lang="zh-CN" altLang="en-US" sz="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价格
信号</a:t>
            </a: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FBA62227-97CA-CA89-BAFD-FB13F8A26EDE}"/>
              </a:ext>
            </a:extLst>
          </p:cNvPr>
          <p:cNvSpPr/>
          <p:nvPr/>
        </p:nvSpPr>
        <p:spPr>
          <a:xfrm>
            <a:off x="4445000" y="5359400"/>
            <a:ext cx="3302000" cy="533400"/>
          </a:xfrm>
          <a:prstGeom prst="roundRect">
            <a:avLst/>
          </a:prstGeom>
          <a:solidFill>
            <a:srgbClr val="FDFAFF"/>
          </a:solidFill>
          <a:ln w="15240">
            <a:solidFill>
              <a:srgbClr val="673AB7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42452BF6-A679-6BB3-E99E-2DECEE31FACB}"/>
              </a:ext>
            </a:extLst>
          </p:cNvPr>
          <p:cNvSpPr txBox="1"/>
          <p:nvPr/>
        </p:nvSpPr>
        <p:spPr>
          <a:xfrm>
            <a:off x="4635500" y="5397500"/>
            <a:ext cx="2921000" cy="215444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t">
            <a:spAutoFit/>
          </a:bodyPr>
          <a:lstStyle/>
          <a:p>
            <a:pPr algn="ctr"/>
            <a:r>
              <a:rPr lang="zh-CN" altLang="en-US" sz="900" b="1">
                <a:solidFill>
                  <a:srgbClr val="673AB7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迭代反馈（响应与策略更新）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551F3F0-FAE1-8885-C820-8131FE56988F}"/>
              </a:ext>
            </a:extLst>
          </p:cNvPr>
          <p:cNvSpPr txBox="1"/>
          <p:nvPr/>
        </p:nvSpPr>
        <p:spPr>
          <a:xfrm>
            <a:off x="4635500" y="5613400"/>
            <a:ext cx="787400" cy="184666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t">
            <a:spAutoFit/>
          </a:bodyPr>
          <a:lstStyle/>
          <a:p>
            <a:pPr algn="ctr"/>
            <a:r>
              <a:rPr lang="zh-CN" altLang="en-US" sz="7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更新需求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D844357F-3FC1-AAD3-B43B-2C4AB957D14E}"/>
              </a:ext>
            </a:extLst>
          </p:cNvPr>
          <p:cNvSpPr txBox="1"/>
          <p:nvPr/>
        </p:nvSpPr>
        <p:spPr>
          <a:xfrm>
            <a:off x="5918200" y="5537200"/>
            <a:ext cx="508000" cy="384721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t">
            <a:spAutoFit/>
          </a:bodyPr>
          <a:lstStyle/>
          <a:p>
            <a:pPr algn="ctr"/>
            <a:r>
              <a:rPr lang="zh-CN" altLang="en-US" sz="2000" b="1">
                <a:solidFill>
                  <a:srgbClr val="673AB7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↻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3E1E1FEF-1BB2-3C5D-4794-FE6DA1F3A7A7}"/>
              </a:ext>
            </a:extLst>
          </p:cNvPr>
          <p:cNvSpPr txBox="1"/>
          <p:nvPr/>
        </p:nvSpPr>
        <p:spPr>
          <a:xfrm>
            <a:off x="6819900" y="5613400"/>
            <a:ext cx="787400" cy="184666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t">
            <a:spAutoFit/>
          </a:bodyPr>
          <a:lstStyle/>
          <a:p>
            <a:pPr algn="ctr"/>
            <a:r>
              <a:rPr lang="zh-CN" altLang="en-US" sz="7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更新价格</a:t>
            </a: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647E3132-851D-C672-7235-A06AAC0502E4}"/>
              </a:ext>
            </a:extLst>
          </p:cNvPr>
          <p:cNvCxnSpPr/>
          <p:nvPr/>
        </p:nvCxnSpPr>
        <p:spPr>
          <a:xfrm>
            <a:off x="6096000" y="5257800"/>
            <a:ext cx="0" cy="101600"/>
          </a:xfrm>
          <a:prstGeom prst="straightConnector1">
            <a:avLst/>
          </a:prstGeom>
          <a:ln w="27940">
            <a:solidFill>
              <a:srgbClr val="673AB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838B3385-0D2A-FF3C-850F-DD0323A7B16E}"/>
              </a:ext>
            </a:extLst>
          </p:cNvPr>
          <p:cNvSpPr txBox="1"/>
          <p:nvPr/>
        </p:nvSpPr>
        <p:spPr>
          <a:xfrm>
            <a:off x="8763000" y="1562100"/>
            <a:ext cx="3048000" cy="276999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t">
            <a:spAutoFit/>
          </a:bodyPr>
          <a:lstStyle/>
          <a:p>
            <a:r>
              <a:rPr lang="en-US" altLang="zh-CN" sz="1300" b="1">
                <a:solidFill>
                  <a:srgbClr val="005CDC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A. </a:t>
            </a:r>
            <a:r>
              <a:rPr lang="zh-CN" altLang="en-US" sz="1300" b="1">
                <a:solidFill>
                  <a:srgbClr val="005CDC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主要结果</a:t>
            </a: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A2C5A11B-B183-C571-1861-5F6BE12170D9}"/>
              </a:ext>
            </a:extLst>
          </p:cNvPr>
          <p:cNvSpPr/>
          <p:nvPr/>
        </p:nvSpPr>
        <p:spPr>
          <a:xfrm>
            <a:off x="8763000" y="1905000"/>
            <a:ext cx="1473200" cy="609600"/>
          </a:xfrm>
          <a:prstGeom prst="roundRect">
            <a:avLst/>
          </a:prstGeom>
          <a:solidFill>
            <a:srgbClr val="FAFFFB"/>
          </a:solidFill>
          <a:ln w="13970">
            <a:solidFill>
              <a:srgbClr val="0D75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62577780-FCAC-F3D0-6F97-02DC690CD7DD}"/>
              </a:ext>
            </a:extLst>
          </p:cNvPr>
          <p:cNvSpPr txBox="1"/>
          <p:nvPr/>
        </p:nvSpPr>
        <p:spPr>
          <a:xfrm>
            <a:off x="8813800" y="1993900"/>
            <a:ext cx="137160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t">
            <a:spAutoFit/>
          </a:bodyPr>
          <a:lstStyle/>
          <a:p>
            <a:pPr algn="ctr"/>
            <a:r>
              <a:rPr lang="zh-CN" altLang="en-US" sz="800">
                <a:solidFill>
                  <a:srgbClr val="14141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相对短视动态定价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75A0C0C4-5DD7-367D-89F2-483BC98FFD4A}"/>
              </a:ext>
            </a:extLst>
          </p:cNvPr>
          <p:cNvSpPr txBox="1"/>
          <p:nvPr/>
        </p:nvSpPr>
        <p:spPr>
          <a:xfrm>
            <a:off x="8813800" y="2260600"/>
            <a:ext cx="1371600" cy="261610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t">
            <a:spAutoFit/>
          </a:bodyPr>
          <a:lstStyle/>
          <a:p>
            <a:pPr algn="ctr"/>
            <a:r>
              <a:rPr lang="en-US" altLang="zh-CN" sz="1200" b="1">
                <a:solidFill>
                  <a:srgbClr val="0D752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+5.22%</a:t>
            </a:r>
            <a:endParaRPr lang="zh-CN" altLang="en-US" sz="1200" b="1">
              <a:solidFill>
                <a:srgbClr val="0D752E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05B5895C-5968-1D81-6A3D-1820EB635A36}"/>
              </a:ext>
            </a:extLst>
          </p:cNvPr>
          <p:cNvSpPr/>
          <p:nvPr/>
        </p:nvSpPr>
        <p:spPr>
          <a:xfrm>
            <a:off x="10388600" y="1905000"/>
            <a:ext cx="1473200" cy="609600"/>
          </a:xfrm>
          <a:prstGeom prst="roundRect">
            <a:avLst/>
          </a:prstGeom>
          <a:solidFill>
            <a:srgbClr val="FAFFFB"/>
          </a:solidFill>
          <a:ln w="13970">
            <a:solidFill>
              <a:srgbClr val="0D75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8AFEFA2B-615C-5B74-8E7D-6D6786A2E67E}"/>
              </a:ext>
            </a:extLst>
          </p:cNvPr>
          <p:cNvSpPr txBox="1"/>
          <p:nvPr/>
        </p:nvSpPr>
        <p:spPr>
          <a:xfrm>
            <a:off x="10439400" y="1993900"/>
            <a:ext cx="137160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t">
            <a:spAutoFit/>
          </a:bodyPr>
          <a:lstStyle/>
          <a:p>
            <a:pPr algn="ctr"/>
            <a:r>
              <a:rPr lang="zh-CN" altLang="en-US" sz="800">
                <a:solidFill>
                  <a:srgbClr val="14141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相对统一定价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C5C8E56E-61F0-F7E4-A76F-78F11BEFE062}"/>
              </a:ext>
            </a:extLst>
          </p:cNvPr>
          <p:cNvSpPr txBox="1"/>
          <p:nvPr/>
        </p:nvSpPr>
        <p:spPr>
          <a:xfrm>
            <a:off x="10439400" y="2260600"/>
            <a:ext cx="1371600" cy="261610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t">
            <a:spAutoFit/>
          </a:bodyPr>
          <a:lstStyle/>
          <a:p>
            <a:pPr algn="ctr"/>
            <a:r>
              <a:rPr lang="en-US" altLang="zh-CN" sz="1200" b="1">
                <a:solidFill>
                  <a:srgbClr val="0D752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+80.51%</a:t>
            </a:r>
            <a:endParaRPr lang="zh-CN" altLang="en-US" sz="1200" b="1">
              <a:solidFill>
                <a:srgbClr val="0D752E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822A47FC-7E7C-39D5-1202-8D5B7BFAAB9D}"/>
              </a:ext>
            </a:extLst>
          </p:cNvPr>
          <p:cNvSpPr/>
          <p:nvPr/>
        </p:nvSpPr>
        <p:spPr>
          <a:xfrm>
            <a:off x="8763000" y="2641600"/>
            <a:ext cx="1473200" cy="609600"/>
          </a:xfrm>
          <a:prstGeom prst="roundRect">
            <a:avLst/>
          </a:prstGeom>
          <a:solidFill>
            <a:srgbClr val="FAFFFB"/>
          </a:solidFill>
          <a:ln w="13970">
            <a:solidFill>
              <a:srgbClr val="005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DC2BEF40-84F5-DF85-CFF1-E15544AAF848}"/>
              </a:ext>
            </a:extLst>
          </p:cNvPr>
          <p:cNvSpPr txBox="1"/>
          <p:nvPr/>
        </p:nvSpPr>
        <p:spPr>
          <a:xfrm>
            <a:off x="8813800" y="2730500"/>
            <a:ext cx="137160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t">
            <a:spAutoFit/>
          </a:bodyPr>
          <a:lstStyle/>
          <a:p>
            <a:pPr algn="ctr"/>
            <a:r>
              <a:rPr lang="zh-CN" altLang="en-US" sz="800">
                <a:solidFill>
                  <a:srgbClr val="14141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最低 </a:t>
            </a:r>
            <a:r>
              <a:rPr lang="en-US" altLang="zh-CN" sz="800">
                <a:solidFill>
                  <a:srgbClr val="14141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QoS</a:t>
            </a:r>
            <a:endParaRPr lang="zh-CN" altLang="en-US" sz="800">
              <a:solidFill>
                <a:srgbClr val="141414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0D46A21A-34E7-4811-1F7C-0204F801C5AE}"/>
              </a:ext>
            </a:extLst>
          </p:cNvPr>
          <p:cNvSpPr txBox="1"/>
          <p:nvPr/>
        </p:nvSpPr>
        <p:spPr>
          <a:xfrm>
            <a:off x="8813800" y="2997200"/>
            <a:ext cx="1371600" cy="261610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t">
            <a:spAutoFit/>
          </a:bodyPr>
          <a:lstStyle/>
          <a:p>
            <a:pPr algn="ctr"/>
            <a:r>
              <a:rPr lang="en-US" altLang="zh-CN" sz="1200" b="1">
                <a:solidFill>
                  <a:srgbClr val="005CDC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0.6632 → 0.9918</a:t>
            </a:r>
            <a:endParaRPr lang="zh-CN" altLang="en-US" sz="1200" b="1">
              <a:solidFill>
                <a:srgbClr val="005CDC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67E6A9C9-90E6-BCD9-B00A-83296806E470}"/>
              </a:ext>
            </a:extLst>
          </p:cNvPr>
          <p:cNvSpPr/>
          <p:nvPr/>
        </p:nvSpPr>
        <p:spPr>
          <a:xfrm>
            <a:off x="10388600" y="2641600"/>
            <a:ext cx="1473200" cy="609600"/>
          </a:xfrm>
          <a:prstGeom prst="roundRect">
            <a:avLst/>
          </a:prstGeom>
          <a:solidFill>
            <a:srgbClr val="FAFFFB"/>
          </a:solidFill>
          <a:ln w="13970">
            <a:solidFill>
              <a:srgbClr val="D6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803CFE18-5DBB-9EE5-E8D1-1CF244C00EBB}"/>
              </a:ext>
            </a:extLst>
          </p:cNvPr>
          <p:cNvSpPr txBox="1"/>
          <p:nvPr/>
        </p:nvSpPr>
        <p:spPr>
          <a:xfrm>
            <a:off x="10439400" y="2730500"/>
            <a:ext cx="137160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t">
            <a:spAutoFit/>
          </a:bodyPr>
          <a:lstStyle/>
          <a:p>
            <a:pPr algn="ctr"/>
            <a:r>
              <a:rPr lang="zh-CN" altLang="en-US" sz="800">
                <a:solidFill>
                  <a:srgbClr val="14141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账单保护下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2C1710C3-2B2E-E818-7687-C0A4B7621F9D}"/>
              </a:ext>
            </a:extLst>
          </p:cNvPr>
          <p:cNvSpPr txBox="1"/>
          <p:nvPr/>
        </p:nvSpPr>
        <p:spPr>
          <a:xfrm>
            <a:off x="10439400" y="2997200"/>
            <a:ext cx="1371600" cy="261610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t">
            <a:spAutoFit/>
          </a:bodyPr>
          <a:lstStyle/>
          <a:p>
            <a:pPr algn="ctr"/>
            <a:r>
              <a:rPr lang="en-US" altLang="zh-CN" sz="1200" b="1">
                <a:solidFill>
                  <a:srgbClr val="D62121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+21.29%</a:t>
            </a:r>
            <a:endParaRPr lang="zh-CN" altLang="en-US" sz="1200" b="1">
              <a:solidFill>
                <a:srgbClr val="D62121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B8B0AEE6-760C-95D0-F4CE-0E3CE3DEEFD3}"/>
              </a:ext>
            </a:extLst>
          </p:cNvPr>
          <p:cNvSpPr/>
          <p:nvPr/>
        </p:nvSpPr>
        <p:spPr>
          <a:xfrm>
            <a:off x="8674100" y="3429000"/>
            <a:ext cx="3289300" cy="134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73A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D20C82D0-F1E1-F417-4A18-37FDA24BB261}"/>
              </a:ext>
            </a:extLst>
          </p:cNvPr>
          <p:cNvSpPr txBox="1"/>
          <p:nvPr/>
        </p:nvSpPr>
        <p:spPr>
          <a:xfrm>
            <a:off x="8788400" y="3479800"/>
            <a:ext cx="3022600" cy="276999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t">
            <a:spAutoFit/>
          </a:bodyPr>
          <a:lstStyle/>
          <a:p>
            <a:r>
              <a:rPr lang="en-US" altLang="zh-CN" sz="1300" b="1">
                <a:solidFill>
                  <a:srgbClr val="005CDC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B. </a:t>
            </a:r>
            <a:r>
              <a:rPr lang="zh-CN" altLang="en-US" sz="1300" b="1">
                <a:solidFill>
                  <a:srgbClr val="005CDC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单 </a:t>
            </a:r>
            <a:r>
              <a:rPr lang="en-US" altLang="zh-CN" sz="1300" b="1">
                <a:solidFill>
                  <a:srgbClr val="005CDC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GPU </a:t>
            </a:r>
            <a:r>
              <a:rPr lang="zh-CN" altLang="en-US" sz="1300" b="1">
                <a:solidFill>
                  <a:srgbClr val="005CDC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验证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35CFAC20-E269-0F76-1E0F-157E1A386803}"/>
              </a:ext>
            </a:extLst>
          </p:cNvPr>
          <p:cNvSpPr txBox="1"/>
          <p:nvPr/>
        </p:nvSpPr>
        <p:spPr>
          <a:xfrm>
            <a:off x="8966200" y="3810000"/>
            <a:ext cx="266700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t">
            <a:spAutoFit/>
          </a:bodyPr>
          <a:lstStyle/>
          <a:p>
            <a:pPr algn="ctr"/>
            <a:r>
              <a:rPr lang="en-US" altLang="zh-CN" sz="800">
                <a:solidFill>
                  <a:srgbClr val="14141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TTFT </a:t>
            </a:r>
            <a:r>
              <a:rPr lang="zh-CN" altLang="en-US" sz="800">
                <a:solidFill>
                  <a:srgbClr val="14141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随并发请求变化（示意）</a:t>
            </a:r>
          </a:p>
        </p:txBody>
      </p: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031EAACE-10AF-F2BF-61A1-333525DC1FAB}"/>
              </a:ext>
            </a:extLst>
          </p:cNvPr>
          <p:cNvCxnSpPr/>
          <p:nvPr/>
        </p:nvCxnSpPr>
        <p:spPr>
          <a:xfrm>
            <a:off x="9169400" y="4470400"/>
            <a:ext cx="1778000" cy="0"/>
          </a:xfrm>
          <a:prstGeom prst="straightConnector1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54069580-646A-09DF-6DBE-97D00E4D5759}"/>
              </a:ext>
            </a:extLst>
          </p:cNvPr>
          <p:cNvCxnSpPr/>
          <p:nvPr/>
        </p:nvCxnSpPr>
        <p:spPr>
          <a:xfrm>
            <a:off x="9169400" y="4038600"/>
            <a:ext cx="0" cy="431800"/>
          </a:xfrm>
          <a:prstGeom prst="straightConnector1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2A1F9019-FE29-06DF-C1C4-A2DD60F6B77E}"/>
              </a:ext>
            </a:extLst>
          </p:cNvPr>
          <p:cNvCxnSpPr/>
          <p:nvPr/>
        </p:nvCxnSpPr>
        <p:spPr>
          <a:xfrm flipV="1">
            <a:off x="9245600" y="4279900"/>
            <a:ext cx="355600" cy="63500"/>
          </a:xfrm>
          <a:prstGeom prst="straightConnector1">
            <a:avLst/>
          </a:prstGeom>
          <a:ln w="22860">
            <a:solidFill>
              <a:srgbClr val="005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519952F3-C48E-0D28-9AFD-817ACCB38BB2}"/>
              </a:ext>
            </a:extLst>
          </p:cNvPr>
          <p:cNvCxnSpPr/>
          <p:nvPr/>
        </p:nvCxnSpPr>
        <p:spPr>
          <a:xfrm flipV="1">
            <a:off x="9601200" y="4165600"/>
            <a:ext cx="393700" cy="114300"/>
          </a:xfrm>
          <a:prstGeom prst="straightConnector1">
            <a:avLst/>
          </a:prstGeom>
          <a:ln w="22860">
            <a:solidFill>
              <a:srgbClr val="005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57E89A31-4319-1537-630C-359026233F6D}"/>
              </a:ext>
            </a:extLst>
          </p:cNvPr>
          <p:cNvCxnSpPr/>
          <p:nvPr/>
        </p:nvCxnSpPr>
        <p:spPr>
          <a:xfrm flipV="1">
            <a:off x="9994900" y="3987800"/>
            <a:ext cx="444500" cy="177800"/>
          </a:xfrm>
          <a:prstGeom prst="straightConnector1">
            <a:avLst/>
          </a:prstGeom>
          <a:ln w="22860">
            <a:solidFill>
              <a:srgbClr val="005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7AE509F5-2BEC-AD21-7D5A-1092B791DE93}"/>
              </a:ext>
            </a:extLst>
          </p:cNvPr>
          <p:cNvCxnSpPr/>
          <p:nvPr/>
        </p:nvCxnSpPr>
        <p:spPr>
          <a:xfrm flipV="1">
            <a:off x="10439400" y="3733800"/>
            <a:ext cx="469900" cy="254000"/>
          </a:xfrm>
          <a:prstGeom prst="straightConnector1">
            <a:avLst/>
          </a:prstGeom>
          <a:ln w="22860">
            <a:solidFill>
              <a:srgbClr val="005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8CE5DCCB-EEC9-5F3E-4E9F-0B3A9429D85B}"/>
              </a:ext>
            </a:extLst>
          </p:cNvPr>
          <p:cNvCxnSpPr/>
          <p:nvPr/>
        </p:nvCxnSpPr>
        <p:spPr>
          <a:xfrm>
            <a:off x="10909300" y="3733800"/>
            <a:ext cx="469900" cy="457200"/>
          </a:xfrm>
          <a:prstGeom prst="straightConnector1">
            <a:avLst/>
          </a:prstGeom>
          <a:ln w="22860">
            <a:solidFill>
              <a:srgbClr val="005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椭圆 86">
            <a:extLst>
              <a:ext uri="{FF2B5EF4-FFF2-40B4-BE49-F238E27FC236}">
                <a16:creationId xmlns:a16="http://schemas.microsoft.com/office/drawing/2014/main" id="{A710775C-9E0B-D6F9-E42E-C544DEAA57B8}"/>
              </a:ext>
            </a:extLst>
          </p:cNvPr>
          <p:cNvSpPr/>
          <p:nvPr/>
        </p:nvSpPr>
        <p:spPr>
          <a:xfrm>
            <a:off x="9207500" y="4305300"/>
            <a:ext cx="76200" cy="76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5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C8D85583-5C1A-F2D5-3B29-F66F202EE980}"/>
              </a:ext>
            </a:extLst>
          </p:cNvPr>
          <p:cNvSpPr/>
          <p:nvPr/>
        </p:nvSpPr>
        <p:spPr>
          <a:xfrm>
            <a:off x="9563100" y="4241800"/>
            <a:ext cx="76200" cy="76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5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30F8AE20-6873-1DDA-BF17-ECFFEF69D7FA}"/>
              </a:ext>
            </a:extLst>
          </p:cNvPr>
          <p:cNvSpPr/>
          <p:nvPr/>
        </p:nvSpPr>
        <p:spPr>
          <a:xfrm>
            <a:off x="9956800" y="4127500"/>
            <a:ext cx="76200" cy="76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5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98A4B3FD-4B68-753E-B67F-7C5A31B3F077}"/>
              </a:ext>
            </a:extLst>
          </p:cNvPr>
          <p:cNvSpPr/>
          <p:nvPr/>
        </p:nvSpPr>
        <p:spPr>
          <a:xfrm>
            <a:off x="10401300" y="3949700"/>
            <a:ext cx="76200" cy="76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5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39091EDC-B83B-771B-27C5-B3C5E9A2DF19}"/>
              </a:ext>
            </a:extLst>
          </p:cNvPr>
          <p:cNvSpPr/>
          <p:nvPr/>
        </p:nvSpPr>
        <p:spPr>
          <a:xfrm>
            <a:off x="10871200" y="3695700"/>
            <a:ext cx="76200" cy="76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5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73CC2F5E-50DF-F4E9-CA0D-9F8023AF132B}"/>
              </a:ext>
            </a:extLst>
          </p:cNvPr>
          <p:cNvSpPr/>
          <p:nvPr/>
        </p:nvSpPr>
        <p:spPr>
          <a:xfrm>
            <a:off x="11341100" y="4152900"/>
            <a:ext cx="76200" cy="76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5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59398EE8-4F77-B042-9151-AA2AFC078411}"/>
              </a:ext>
            </a:extLst>
          </p:cNvPr>
          <p:cNvCxnSpPr/>
          <p:nvPr/>
        </p:nvCxnSpPr>
        <p:spPr>
          <a:xfrm>
            <a:off x="10820400" y="4038600"/>
            <a:ext cx="0" cy="431800"/>
          </a:xfrm>
          <a:prstGeom prst="straightConnector1">
            <a:avLst/>
          </a:prstGeom>
          <a:ln>
            <a:solidFill>
              <a:srgbClr val="D6212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文本框 93">
            <a:extLst>
              <a:ext uri="{FF2B5EF4-FFF2-40B4-BE49-F238E27FC236}">
                <a16:creationId xmlns:a16="http://schemas.microsoft.com/office/drawing/2014/main" id="{68A713E3-C253-4EFB-4481-F8163BC58D9A}"/>
              </a:ext>
            </a:extLst>
          </p:cNvPr>
          <p:cNvSpPr txBox="1"/>
          <p:nvPr/>
        </p:nvSpPr>
        <p:spPr>
          <a:xfrm>
            <a:off x="10896600" y="4241800"/>
            <a:ext cx="533400" cy="184666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t">
            <a:spAutoFit/>
          </a:bodyPr>
          <a:lstStyle/>
          <a:p>
            <a:r>
              <a:rPr lang="zh-CN" altLang="en-US" sz="700" b="1">
                <a:solidFill>
                  <a:srgbClr val="D62121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高并发区</a:t>
            </a: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A1ACBA54-19F9-AF08-6D40-BB27B37F57AE}"/>
              </a:ext>
            </a:extLst>
          </p:cNvPr>
          <p:cNvSpPr txBox="1"/>
          <p:nvPr/>
        </p:nvSpPr>
        <p:spPr>
          <a:xfrm>
            <a:off x="9779000" y="4483100"/>
            <a:ext cx="1168400" cy="184666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t">
            <a:spAutoFit/>
          </a:bodyPr>
          <a:lstStyle/>
          <a:p>
            <a:pPr algn="ctr"/>
            <a:r>
              <a:rPr lang="zh-CN" altLang="en-US" sz="700">
                <a:solidFill>
                  <a:srgbClr val="14141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并发请求数</a:t>
            </a: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F66935E0-C9EC-D303-0EC0-E41419992BAB}"/>
              </a:ext>
            </a:extLst>
          </p:cNvPr>
          <p:cNvSpPr txBox="1"/>
          <p:nvPr/>
        </p:nvSpPr>
        <p:spPr>
          <a:xfrm>
            <a:off x="8763000" y="4902200"/>
            <a:ext cx="3048000" cy="276999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t">
            <a:spAutoFit/>
          </a:bodyPr>
          <a:lstStyle/>
          <a:p>
            <a:r>
              <a:rPr lang="en-US" altLang="zh-CN" sz="1300" b="1">
                <a:solidFill>
                  <a:srgbClr val="673AB7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C. </a:t>
            </a:r>
            <a:r>
              <a:rPr lang="zh-CN" altLang="en-US" sz="1300" b="1">
                <a:solidFill>
                  <a:srgbClr val="673AB7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稳健性检查</a:t>
            </a:r>
          </a:p>
        </p:txBody>
      </p:sp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8EE2ED58-E1AD-8EB5-3C5E-169BEEEAC8C8}"/>
              </a:ext>
            </a:extLst>
          </p:cNvPr>
          <p:cNvSpPr/>
          <p:nvPr/>
        </p:nvSpPr>
        <p:spPr>
          <a:xfrm>
            <a:off x="8763000" y="5232400"/>
            <a:ext cx="698500" cy="3048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673A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t"/>
          <a:lstStyle/>
          <a:p>
            <a:pPr algn="ctr"/>
            <a:r>
              <a:rPr lang="zh-CN" altLang="en-US" sz="800" b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容量变化</a:t>
            </a:r>
          </a:p>
        </p:txBody>
      </p: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0E65B7A0-A940-52F3-DD23-DDCB2B769279}"/>
              </a:ext>
            </a:extLst>
          </p:cNvPr>
          <p:cNvSpPr/>
          <p:nvPr/>
        </p:nvSpPr>
        <p:spPr>
          <a:xfrm>
            <a:off x="9537700" y="5232400"/>
            <a:ext cx="698500" cy="3048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673A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t"/>
          <a:lstStyle/>
          <a:p>
            <a:pPr algn="ctr"/>
            <a:r>
              <a:rPr lang="zh-CN" altLang="en-US" sz="800" b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账单保护</a:t>
            </a:r>
          </a:p>
        </p:txBody>
      </p: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82F333C2-52BC-56C6-F765-131526AAD7D6}"/>
              </a:ext>
            </a:extLst>
          </p:cNvPr>
          <p:cNvSpPr/>
          <p:nvPr/>
        </p:nvSpPr>
        <p:spPr>
          <a:xfrm>
            <a:off x="10312400" y="5232400"/>
            <a:ext cx="698500" cy="3048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673A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t"/>
          <a:lstStyle/>
          <a:p>
            <a:pPr algn="ctr"/>
            <a:r>
              <a:rPr lang="zh-CN" altLang="en-US" sz="800" b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市场扩张</a:t>
            </a:r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8B01356C-3430-DF2B-46BA-596FD9770407}"/>
              </a:ext>
            </a:extLst>
          </p:cNvPr>
          <p:cNvSpPr/>
          <p:nvPr/>
        </p:nvSpPr>
        <p:spPr>
          <a:xfrm>
            <a:off x="11087100" y="5232400"/>
            <a:ext cx="698500" cy="3048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673A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t"/>
          <a:lstStyle/>
          <a:p>
            <a:pPr algn="ctr"/>
            <a:r>
              <a:rPr lang="en-US" altLang="zh-CN" sz="800" b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QoS </a:t>
            </a:r>
            <a:r>
              <a:rPr lang="zh-CN" altLang="en-US" sz="800" b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反馈</a:t>
            </a:r>
          </a:p>
        </p:txBody>
      </p: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0F612D75-1EA0-C661-0591-2F28DA0225C9}"/>
              </a:ext>
            </a:extLst>
          </p:cNvPr>
          <p:cNvCxnSpPr/>
          <p:nvPr/>
        </p:nvCxnSpPr>
        <p:spPr>
          <a:xfrm>
            <a:off x="3632200" y="2184400"/>
            <a:ext cx="685800" cy="0"/>
          </a:xfrm>
          <a:prstGeom prst="straightConnector1">
            <a:avLst/>
          </a:prstGeom>
          <a:ln w="25400">
            <a:solidFill>
              <a:srgbClr val="388E3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文本框 101">
            <a:extLst>
              <a:ext uri="{FF2B5EF4-FFF2-40B4-BE49-F238E27FC236}">
                <a16:creationId xmlns:a16="http://schemas.microsoft.com/office/drawing/2014/main" id="{899B5289-4C34-61DA-DB94-D6840A12F9E8}"/>
              </a:ext>
            </a:extLst>
          </p:cNvPr>
          <p:cNvSpPr txBox="1"/>
          <p:nvPr/>
        </p:nvSpPr>
        <p:spPr>
          <a:xfrm>
            <a:off x="3708400" y="1727200"/>
            <a:ext cx="609600" cy="323165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t">
            <a:spAutoFit/>
          </a:bodyPr>
          <a:lstStyle/>
          <a:p>
            <a:pPr algn="ctr"/>
            <a:r>
              <a:rPr lang="zh-CN" altLang="en-US" sz="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需求信息
偏好</a:t>
            </a:r>
            <a:r>
              <a:rPr lang="en-US" altLang="zh-CN" sz="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/</a:t>
            </a:r>
            <a:r>
              <a:rPr lang="zh-CN" altLang="en-US" sz="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成本</a:t>
            </a:r>
          </a:p>
        </p:txBody>
      </p: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F8402788-BA61-6298-B8A3-116BCEE2495A}"/>
              </a:ext>
            </a:extLst>
          </p:cNvPr>
          <p:cNvCxnSpPr/>
          <p:nvPr/>
        </p:nvCxnSpPr>
        <p:spPr>
          <a:xfrm>
            <a:off x="7874000" y="2184400"/>
            <a:ext cx="698500" cy="0"/>
          </a:xfrm>
          <a:prstGeom prst="straightConnector1">
            <a:avLst/>
          </a:prstGeom>
          <a:ln w="25400">
            <a:solidFill>
              <a:srgbClr val="388E3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文本框 103">
            <a:extLst>
              <a:ext uri="{FF2B5EF4-FFF2-40B4-BE49-F238E27FC236}">
                <a16:creationId xmlns:a16="http://schemas.microsoft.com/office/drawing/2014/main" id="{F27A5E03-1EBD-703A-9115-C26262CBCB1D}"/>
              </a:ext>
            </a:extLst>
          </p:cNvPr>
          <p:cNvSpPr txBox="1"/>
          <p:nvPr/>
        </p:nvSpPr>
        <p:spPr>
          <a:xfrm>
            <a:off x="7975600" y="1727200"/>
            <a:ext cx="609600" cy="323165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t">
            <a:spAutoFit/>
          </a:bodyPr>
          <a:lstStyle/>
          <a:p>
            <a:pPr algn="ctr"/>
            <a:r>
              <a:rPr lang="zh-CN" altLang="en-US" sz="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数据状态
容量</a:t>
            </a:r>
            <a:r>
              <a:rPr lang="en-US" altLang="zh-CN" sz="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/QoS</a:t>
            </a:r>
            <a:endParaRPr lang="zh-CN" altLang="en-US" sz="800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927219CE-0AE2-3F0C-6F9D-04BEBFBE75C2}"/>
              </a:ext>
            </a:extLst>
          </p:cNvPr>
          <p:cNvSpPr/>
          <p:nvPr/>
        </p:nvSpPr>
        <p:spPr>
          <a:xfrm>
            <a:off x="152400" y="6426200"/>
            <a:ext cx="11887200" cy="330200"/>
          </a:xfrm>
          <a:prstGeom prst="roundRect">
            <a:avLst/>
          </a:prstGeom>
          <a:solidFill>
            <a:srgbClr val="EFF9F1"/>
          </a:solidFill>
          <a:ln w="12700">
            <a:solidFill>
              <a:srgbClr val="0D75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t"/>
          <a:lstStyle/>
          <a:p>
            <a:pPr algn="ctr"/>
            <a:r>
              <a:rPr lang="zh-CN" altLang="en-US" sz="1200" b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✓ </a:t>
            </a:r>
            <a:r>
              <a:rPr lang="en-US" altLang="zh-CN" sz="1200" b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QoS </a:t>
            </a:r>
            <a:r>
              <a:rPr lang="zh-CN" altLang="en-US" sz="1200" b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感知的约束动态定价通过价格信号迁移弹性需求，在固定平均标价约束下缓解拥挤，并由仿真与单 </a:t>
            </a:r>
            <a:r>
              <a:rPr lang="en-US" altLang="zh-CN" sz="1200" b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GPU </a:t>
            </a:r>
            <a:r>
              <a:rPr lang="zh-CN" altLang="en-US" sz="1200" b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测量共同支持。</a:t>
            </a:r>
          </a:p>
        </p:txBody>
      </p:sp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A71B4802-DB5C-7CBE-8F42-2F620C86F305}"/>
              </a:ext>
            </a:extLst>
          </p:cNvPr>
          <p:cNvSpPr/>
          <p:nvPr/>
        </p:nvSpPr>
        <p:spPr>
          <a:xfrm>
            <a:off x="203200" y="6019800"/>
            <a:ext cx="11785600" cy="3048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ADE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t"/>
          <a:lstStyle/>
          <a:p>
            <a:pPr algn="ctr"/>
            <a:r>
              <a:rPr lang="zh-CN" altLang="en-US" sz="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绿色箭头：需求</a:t>
            </a:r>
            <a:r>
              <a:rPr lang="en-US" altLang="zh-CN" sz="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/</a:t>
            </a:r>
            <a:r>
              <a:rPr lang="zh-CN" altLang="en-US" sz="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状态信息流      蓝色箭头：价格信号流      橙色虚线：供给</a:t>
            </a:r>
            <a:r>
              <a:rPr lang="en-US" altLang="zh-CN" sz="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/</a:t>
            </a:r>
            <a:r>
              <a:rPr lang="zh-CN" altLang="en-US" sz="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反馈影响      紫色箭头：迭代更新</a:t>
            </a:r>
          </a:p>
        </p:txBody>
      </p:sp>
    </p:spTree>
    <p:extLst>
      <p:ext uri="{BB962C8B-B14F-4D97-AF65-F5344CB8AC3E}">
        <p14:creationId xmlns:p14="http://schemas.microsoft.com/office/powerpoint/2010/main" val="3961874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338</Words>
  <Application>Microsoft Office PowerPoint</Application>
  <PresentationFormat>自定义</PresentationFormat>
  <Paragraphs>50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洪堂 曹</dc:creator>
  <cp:lastModifiedBy>洪堂 曹</cp:lastModifiedBy>
  <cp:revision>1</cp:revision>
  <dcterms:created xsi:type="dcterms:W3CDTF">2026-06-03T07:11:10Z</dcterms:created>
  <dcterms:modified xsi:type="dcterms:W3CDTF">2026-06-03T07:11:10Z</dcterms:modified>
</cp:coreProperties>
</file>